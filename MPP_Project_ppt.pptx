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embeddedFontLst>
    <p:embeddedFont>
      <p:font typeface="Roboto"/>
      <p:regular r:id="rId28"/>
      <p:bold r:id="rId29"/>
      <p:italic r:id="rId30"/>
      <p:boldItalic r:id="rId31"/>
    </p:embeddedFont>
    <p:embeddedFont>
      <p:font typeface="Old Standard TT"/>
      <p:regular r:id="rId32"/>
      <p:bold r:id="rId33"/>
      <p: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oboto-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boldItalic.fntdata"/><Relationship Id="rId30" Type="http://schemas.openxmlformats.org/officeDocument/2006/relationships/font" Target="fonts/Roboto-italic.fntdata"/><Relationship Id="rId11" Type="http://schemas.openxmlformats.org/officeDocument/2006/relationships/slide" Target="slides/slide6.xml"/><Relationship Id="rId33" Type="http://schemas.openxmlformats.org/officeDocument/2006/relationships/font" Target="fonts/OldStandardTT-bold.fntdata"/><Relationship Id="rId10" Type="http://schemas.openxmlformats.org/officeDocument/2006/relationships/slide" Target="slides/slide5.xml"/><Relationship Id="rId32" Type="http://schemas.openxmlformats.org/officeDocument/2006/relationships/font" Target="fonts/OldStandardTT-regular.fntdata"/><Relationship Id="rId13" Type="http://schemas.openxmlformats.org/officeDocument/2006/relationships/slide" Target="slides/slide8.xml"/><Relationship Id="rId12" Type="http://schemas.openxmlformats.org/officeDocument/2006/relationships/slide" Target="slides/slide7.xml"/><Relationship Id="rId34" Type="http://schemas.openxmlformats.org/officeDocument/2006/relationships/font" Target="fonts/OldStandardTT-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c6f90357f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c6f90357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Apurv</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c6f90357f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c6f90357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Apurv</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1e54852d5c_0_2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1e54852d5c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Apurv</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1e54852d5c_0_5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1e54852d5c_0_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
                <a:solidFill>
                  <a:schemeClr val="dk1"/>
                </a:solidFill>
              </a:rPr>
              <a:t>Sleep spindles are short bursts of oscillatory brain activity in the frequency range of 12-14 Hz. They are a hallmark of stage II non-REM sleep and are crucial for memory consolidation and brain plasticity.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What is EEG and EOG?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EEG (Electroencephalogram) measures electrical activity in the brain, helping to detect sleep-related patterns like spindles.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EOG (Electrooculogram) measures eye movements and complements EEG by capturing signals affected by rapid or slow eye movements during sleep.</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When do spindles occur?</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Spindles occur during non-rapid eye movement (NREM) sleep, particularly in stage II. This is a transitional phase between light and deep sleep.</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identify spindles using EEG?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Detecting spindles can help understand sleep quality, cognitive functions, and diagnose sleep-related disorders such as insomnia or sleep apnea.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is this important?</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Accurate detection of spindles is essential for research on brain health, neurological disorders, and improving therapeutic solutions for sleep-related issues.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1e54852d5c_0_2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1e54852d5c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hari</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1e54852d5c_0_3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1e54852d5c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Existing Focus on Detection Accuracy</a:t>
            </a:r>
            <a:r>
              <a:rPr lang="en">
                <a:solidFill>
                  <a:schemeClr val="dk1"/>
                </a:solidFill>
              </a:rPr>
              <a:t>: Most previous studies on EEG spindle detection have concentrated on improving detection accuracy through advanced neural networks like convolutional and recurrent architectures, without addressing the computational efficiency of training.</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Limited Exploration of Parallelism</a:t>
            </a:r>
            <a:r>
              <a:rPr lang="en">
                <a:solidFill>
                  <a:schemeClr val="dk1"/>
                </a:solidFill>
              </a:rPr>
              <a:t>: While parallel processing has been widely used in other domains to accelerate machine learning tasks, its application to EEG spindle detection is sparse, with minimal studies exploring parallel training or evaluation techniques.</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Optimization of Feature Extraction</a:t>
            </a:r>
            <a:r>
              <a:rPr lang="en">
                <a:solidFill>
                  <a:schemeClr val="dk1"/>
                </a:solidFill>
              </a:rPr>
              <a:t>: Some prior work has focused on optimizing feature extraction methods, such as using wavelet analysis and spectral properties, to enhance the performance of spindle detection models.</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Gap in Computational Efficiency Research</a:t>
            </a:r>
            <a:r>
              <a:rPr lang="en">
                <a:solidFill>
                  <a:schemeClr val="dk1"/>
                </a:solidFill>
              </a:rPr>
              <a:t>: Despite the advancements in model accuracy, there is a significant gap in research addressing the reduction of training and evaluation time for spindle detection models, particularly using parallel and distributed computing techniques.</a:t>
            </a:r>
            <a:endParaRPr>
              <a:solidFill>
                <a:schemeClr val="dk1"/>
              </a:solidFill>
            </a:endParaRPr>
          </a:p>
          <a:p>
            <a:pPr indent="0" lvl="0" marL="0" rtl="0" algn="l">
              <a:spcBef>
                <a:spcPts val="0"/>
              </a:spcBef>
              <a:spcAft>
                <a:spcPts val="0"/>
              </a:spcAft>
              <a:buClr>
                <a:schemeClr val="dk1"/>
              </a:buClr>
              <a:buSzPts val="1100"/>
              <a:buFont typeface="Arial"/>
              <a:buNone/>
            </a:pPr>
            <a:r>
              <a:rPr b="1" lang="en"/>
              <a:t>Since this domain is relatively new, there has been limited research on the parallel programming aspect of the projec</a:t>
            </a:r>
            <a:r>
              <a:rPr lang="en"/>
              <a:t>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c6f90357f_0_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c6f90357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Hari</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c6f90357f_0_1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c6f90357f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Font typeface="Old Standard TT"/>
              <a:buChar char="●"/>
            </a:pPr>
            <a:r>
              <a:rPr b="1" lang="en">
                <a:solidFill>
                  <a:schemeClr val="dk1"/>
                </a:solidFill>
                <a:latin typeface="Old Standard TT"/>
                <a:ea typeface="Old Standard TT"/>
                <a:cs typeface="Old Standard TT"/>
                <a:sym typeface="Old Standard TT"/>
              </a:rPr>
              <a:t>EDA and Preprocessing: Load and preprocess datasets for analysis. Hari</a:t>
            </a:r>
            <a:endParaRPr b="1">
              <a:solidFill>
                <a:schemeClr val="dk1"/>
              </a:solidFill>
              <a:latin typeface="Old Standard TT"/>
              <a:ea typeface="Old Standard TT"/>
              <a:cs typeface="Old Standard TT"/>
              <a:sym typeface="Old Standard TT"/>
            </a:endParaRPr>
          </a:p>
          <a:p>
            <a:pPr indent="-298450" lvl="0" marL="457200" rtl="0" algn="l">
              <a:lnSpc>
                <a:spcPct val="115000"/>
              </a:lnSpc>
              <a:spcBef>
                <a:spcPts val="1600"/>
              </a:spcBef>
              <a:spcAft>
                <a:spcPts val="0"/>
              </a:spcAft>
              <a:buClr>
                <a:schemeClr val="dk1"/>
              </a:buClr>
              <a:buSzPts val="1100"/>
              <a:buFont typeface="Old Standard TT"/>
              <a:buChar char="●"/>
            </a:pPr>
            <a:r>
              <a:rPr b="1" lang="en">
                <a:solidFill>
                  <a:schemeClr val="dk1"/>
                </a:solidFill>
                <a:latin typeface="Old Standard TT"/>
                <a:ea typeface="Old Standard TT"/>
                <a:cs typeface="Old Standard TT"/>
                <a:sym typeface="Old Standard TT"/>
              </a:rPr>
              <a:t>Training (Sequential and Parallel): Neural network training with baseline and optimized approaches.</a:t>
            </a:r>
            <a:endParaRPr b="1">
              <a:solidFill>
                <a:schemeClr val="dk1"/>
              </a:solidFill>
              <a:latin typeface="Old Standard TT"/>
              <a:ea typeface="Old Standard TT"/>
              <a:cs typeface="Old Standard TT"/>
              <a:sym typeface="Old Standard TT"/>
            </a:endParaRPr>
          </a:p>
          <a:p>
            <a:pPr indent="-298450" lvl="0" marL="457200" rtl="0" algn="l">
              <a:lnSpc>
                <a:spcPct val="115000"/>
              </a:lnSpc>
              <a:spcBef>
                <a:spcPts val="1600"/>
              </a:spcBef>
              <a:spcAft>
                <a:spcPts val="0"/>
              </a:spcAft>
              <a:buClr>
                <a:schemeClr val="dk1"/>
              </a:buClr>
              <a:buSzPts val="1100"/>
              <a:buFont typeface="Old Standard TT"/>
              <a:buChar char="●"/>
            </a:pPr>
            <a:r>
              <a:rPr b="1" lang="en">
                <a:solidFill>
                  <a:schemeClr val="dk1"/>
                </a:solidFill>
                <a:latin typeface="Old Standard TT"/>
                <a:ea typeface="Old Standard TT"/>
                <a:cs typeface="Old Standard TT"/>
                <a:sym typeface="Old Standard TT"/>
              </a:rPr>
              <a:t>Evaluation: Benchmarks to compare sequential and parallel implementations.</a:t>
            </a:r>
            <a:endParaRPr b="1">
              <a:solidFill>
                <a:schemeClr val="dk1"/>
              </a:solidFill>
              <a:latin typeface="Old Standard TT"/>
              <a:ea typeface="Old Standard TT"/>
              <a:cs typeface="Old Standard TT"/>
              <a:sym typeface="Old Standard TT"/>
            </a:endParaRPr>
          </a:p>
          <a:p>
            <a:pPr indent="-298450" lvl="0" marL="457200" rtl="0" algn="l">
              <a:lnSpc>
                <a:spcPct val="115000"/>
              </a:lnSpc>
              <a:spcBef>
                <a:spcPts val="1600"/>
              </a:spcBef>
              <a:spcAft>
                <a:spcPts val="1600"/>
              </a:spcAft>
              <a:buClr>
                <a:schemeClr val="dk1"/>
              </a:buClr>
              <a:buSzPts val="1100"/>
              <a:buFont typeface="Old Standard TT"/>
              <a:buChar char="●"/>
            </a:pPr>
            <a:r>
              <a:rPr b="1" lang="en">
                <a:solidFill>
                  <a:schemeClr val="dk1"/>
                </a:solidFill>
                <a:latin typeface="Old Standard TT"/>
                <a:ea typeface="Old Standard TT"/>
                <a:cs typeface="Old Standard TT"/>
                <a:sym typeface="Old Standard TT"/>
              </a:rPr>
              <a:t>Memory Management: Safe memory cleanup to optimize resource usage.</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1e54852d5c_0_45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1e54852d5c_0_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Apurv</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1e5ccf33df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1e5ccf33df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Dataset Integration:</a:t>
            </a:r>
            <a:r>
              <a:rPr lang="en">
                <a:solidFill>
                  <a:schemeClr val="dk1"/>
                </a:solidFill>
              </a:rPr>
              <a:t> We combined two spindle datasets to create a unified and higher-quality dataset for analysis.</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Feature Selection:</a:t>
            </a:r>
            <a:r>
              <a:rPr lang="en">
                <a:solidFill>
                  <a:schemeClr val="dk1"/>
                </a:solidFill>
              </a:rPr>
              <a:t> Principal Component Analysis (PCA) was used to identify and extract the most optimal features for spindle detection.</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Normalization:</a:t>
            </a:r>
            <a:r>
              <a:rPr lang="en">
                <a:solidFill>
                  <a:schemeClr val="dk1"/>
                </a:solidFill>
              </a:rPr>
              <a:t> Data normalization was applied to ensure all features are scaled appropriately for the model.</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Essential Preprocessing:</a:t>
            </a:r>
            <a:r>
              <a:rPr lang="en">
                <a:solidFill>
                  <a:schemeClr val="dk1"/>
                </a:solidFill>
              </a:rPr>
              <a:t> These steps are crucial to prepare the data for effective training and evaluation.</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Foundation for Modeling:</a:t>
            </a:r>
            <a:r>
              <a:rPr lang="en">
                <a:solidFill>
                  <a:schemeClr val="dk1"/>
                </a:solidFill>
              </a:rPr>
              <a:t> Proper EDA and preprocessing lay the groundwork for robust and accurate neural network modeling.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t>This graph illustrates the time-series signals of EEG and EOG data across various electrodes. Each line represents the signal activity from specific channels, including "EOG Left" and EEG channels like "C3-A1" and "O1-A1," over time in seconds. The variability and overlapping patterns highlight the dynamic changes in brain and eye activity, which are crucial for spindle detection.</a:t>
            </a:r>
            <a:endParaRPr/>
          </a:p>
          <a:p>
            <a:pPr indent="0" lvl="0" marL="0" rtl="0" algn="l">
              <a:spcBef>
                <a:spcPts val="120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1e5ccf33d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1e5ccf33d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1e5ccf33df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1e5ccf33df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c6f90357f_0_1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c6f90357f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graph illustrates the training time and speedup achieved as we increase the number of threads used in parallel training.</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The </a:t>
            </a:r>
            <a:r>
              <a:rPr b="1" lang="en">
                <a:solidFill>
                  <a:schemeClr val="dk1"/>
                </a:solidFill>
              </a:rPr>
              <a:t>blue line</a:t>
            </a:r>
            <a:r>
              <a:rPr lang="en">
                <a:solidFill>
                  <a:schemeClr val="dk1"/>
                </a:solidFill>
              </a:rPr>
              <a:t> represents the parallel training time in seconds for different thread counts. As the number of threads increases from 4 to 12, the training time slightly increases, indicating diminishing returns on parallelism.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a:t>
            </a:r>
            <a:r>
              <a:rPr b="1" lang="en">
                <a:solidFill>
                  <a:schemeClr val="dk1"/>
                </a:solidFill>
              </a:rPr>
              <a:t>red line</a:t>
            </a:r>
            <a:r>
              <a:rPr lang="en">
                <a:solidFill>
                  <a:schemeClr val="dk1"/>
                </a:solidFill>
              </a:rPr>
              <a:t> shows the observed speedup, which is the improvement in training time compared to sequential execution. With 4 threads, the speedup is around </a:t>
            </a:r>
            <a:r>
              <a:rPr b="1" lang="en">
                <a:solidFill>
                  <a:schemeClr val="dk1"/>
                </a:solidFill>
              </a:rPr>
              <a:t>4.54x</a:t>
            </a:r>
            <a:r>
              <a:rPr lang="en">
                <a:solidFill>
                  <a:schemeClr val="dk1"/>
                </a:solidFill>
              </a:rPr>
              <a:t>, which is close to ideal. However, as the number of threads increases, the observed speedup decreases slightly, reaching </a:t>
            </a:r>
            <a:r>
              <a:rPr b="1" lang="en">
                <a:solidFill>
                  <a:schemeClr val="dk1"/>
                </a:solidFill>
              </a:rPr>
              <a:t>4.15x</a:t>
            </a:r>
            <a:r>
              <a:rPr lang="en">
                <a:solidFill>
                  <a:schemeClr val="dk1"/>
                </a:solidFill>
              </a:rPr>
              <a:t> with 12 threads.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From this, I understand that parallel performance is effective at lower thread counts, achieving significant speedup. However, as more threads are added, factors like synchronization overhead and limited parallelizable tasks reduce efficiency, leading to diminishing speedup gains. This suggests that for our setup, </a:t>
            </a:r>
            <a:r>
              <a:rPr b="1" lang="en">
                <a:solidFill>
                  <a:schemeClr val="dk1"/>
                </a:solidFill>
              </a:rPr>
              <a:t>4 to 8 threads offer the best balance</a:t>
            </a:r>
            <a:r>
              <a:rPr lang="en">
                <a:solidFill>
                  <a:schemeClr val="dk1"/>
                </a:solidFill>
              </a:rPr>
              <a:t> between speedup and efficiency.</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1e54852d5c_0_4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1e54852d5c_0_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1e54852d5c_0_4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1e54852d5c_0_4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1e54852d5c_0_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1e54852d5c_0_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Apurv</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Although memory management and gc is automatic, we have implemented manual tests to confirm that it is done properly</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1e54852d5c_0_5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1e54852d5c_0_5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1e54852d5c_0_5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1e54852d5c_0_5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1e54852d5c_0_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1e54852d5c_0_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c6f90357f_0_3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c6f90357f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completing the project, we learned that parallel processing significantly reduces training and evaluation times for neural networks without compromising accuracy. Additionally, proper synchronization and memory management are crucial for optimizing performance and ensuring system stability in large-scale computations.</a:t>
            </a:r>
            <a:endParaRPr/>
          </a:p>
          <a:p>
            <a:pPr indent="0" lvl="0" marL="0" rtl="0" algn="l">
              <a:spcBef>
                <a:spcPts val="0"/>
              </a:spcBef>
              <a:spcAft>
                <a:spcPts val="0"/>
              </a:spcAft>
              <a:buNone/>
            </a:pPr>
            <a:br>
              <a:rPr lang="en"/>
            </a:br>
            <a:r>
              <a:rPr lang="en"/>
              <a:t>Yes, we were successful in achieving our goal of reducing training and evaluation times through parallel processing, achieving a speedup of 4x.</a:t>
            </a:r>
            <a:br>
              <a:rPr lang="en"/>
            </a:br>
            <a:br>
              <a:rPr lang="en"/>
            </a:br>
            <a:endParaRPr/>
          </a:p>
          <a:p>
            <a:pPr indent="0" lvl="0" marL="0" rtl="0" algn="l">
              <a:spcBef>
                <a:spcPts val="0"/>
              </a:spcBef>
              <a:spcAft>
                <a:spcPts val="0"/>
              </a:spcAft>
              <a:buNone/>
            </a:pPr>
            <a:r>
              <a:rPr lang="en"/>
              <a:t>We are satisfied with the results, as reducing training time from 46 minutes to just 12 minutes demonstrates a significant improvement, especially given the execution constraints.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c6f90357f_0_2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c6f90357f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Apurv</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c6f90357f_0_4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c6f90357f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1600"/>
              </a:spcBef>
              <a:spcAft>
                <a:spcPts val="0"/>
              </a:spcAft>
              <a:buClr>
                <a:schemeClr val="accent1"/>
              </a:buClr>
              <a:buSzPts val="1400"/>
              <a:buChar char="○"/>
              <a:defRPr>
                <a:solidFill>
                  <a:schemeClr val="accent1"/>
                </a:solidFill>
              </a:defRPr>
            </a:lvl2pPr>
            <a:lvl3pPr indent="-317500" lvl="2" marL="1371600">
              <a:spcBef>
                <a:spcPts val="1600"/>
              </a:spcBef>
              <a:spcAft>
                <a:spcPts val="0"/>
              </a:spcAft>
              <a:buClr>
                <a:schemeClr val="accent1"/>
              </a:buClr>
              <a:buSzPts val="1400"/>
              <a:buChar char="■"/>
              <a:defRPr>
                <a:solidFill>
                  <a:schemeClr val="accent1"/>
                </a:solidFill>
              </a:defRPr>
            </a:lvl3pPr>
            <a:lvl4pPr indent="-317500" lvl="3" marL="1828800">
              <a:spcBef>
                <a:spcPts val="1600"/>
              </a:spcBef>
              <a:spcAft>
                <a:spcPts val="0"/>
              </a:spcAft>
              <a:buClr>
                <a:schemeClr val="accent1"/>
              </a:buClr>
              <a:buSzPts val="1400"/>
              <a:buChar char="●"/>
              <a:defRPr>
                <a:solidFill>
                  <a:schemeClr val="accent1"/>
                </a:solidFill>
              </a:defRPr>
            </a:lvl4pPr>
            <a:lvl5pPr indent="-317500" lvl="4" marL="2286000">
              <a:spcBef>
                <a:spcPts val="1600"/>
              </a:spcBef>
              <a:spcAft>
                <a:spcPts val="0"/>
              </a:spcAft>
              <a:buClr>
                <a:schemeClr val="accent1"/>
              </a:buClr>
              <a:buSzPts val="1400"/>
              <a:buChar char="○"/>
              <a:defRPr>
                <a:solidFill>
                  <a:schemeClr val="accent1"/>
                </a:solidFill>
              </a:defRPr>
            </a:lvl5pPr>
            <a:lvl6pPr indent="-317500" lvl="5" marL="2743200">
              <a:spcBef>
                <a:spcPts val="1600"/>
              </a:spcBef>
              <a:spcAft>
                <a:spcPts val="0"/>
              </a:spcAft>
              <a:buClr>
                <a:schemeClr val="accent1"/>
              </a:buClr>
              <a:buSzPts val="1400"/>
              <a:buChar char="■"/>
              <a:defRPr>
                <a:solidFill>
                  <a:schemeClr val="accent1"/>
                </a:solidFill>
              </a:defRPr>
            </a:lvl6pPr>
            <a:lvl7pPr indent="-317500" lvl="6" marL="3200400">
              <a:spcBef>
                <a:spcPts val="1600"/>
              </a:spcBef>
              <a:spcAft>
                <a:spcPts val="0"/>
              </a:spcAft>
              <a:buClr>
                <a:schemeClr val="accent1"/>
              </a:buClr>
              <a:buSzPts val="1400"/>
              <a:buChar char="●"/>
              <a:defRPr>
                <a:solidFill>
                  <a:schemeClr val="accent1"/>
                </a:solidFill>
              </a:defRPr>
            </a:lvl7pPr>
            <a:lvl8pPr indent="-317500" lvl="7" marL="3657600">
              <a:spcBef>
                <a:spcPts val="1600"/>
              </a:spcBef>
              <a:spcAft>
                <a:spcPts val="0"/>
              </a:spcAft>
              <a:buClr>
                <a:schemeClr val="accent1"/>
              </a:buClr>
              <a:buSzPts val="1400"/>
              <a:buChar char="○"/>
              <a:defRPr>
                <a:solidFill>
                  <a:schemeClr val="accent1"/>
                </a:solidFill>
              </a:defRPr>
            </a:lvl8pPr>
            <a:lvl9pPr indent="-317500" lvl="8" marL="4114800">
              <a:spcBef>
                <a:spcPts val="1600"/>
              </a:spcBef>
              <a:spcAft>
                <a:spcPts val="160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1600"/>
              </a:spcBef>
              <a:spcAft>
                <a:spcPts val="160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1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1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1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1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88800" y="1102650"/>
            <a:ext cx="8118600" cy="1859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sz="3800"/>
          </a:p>
          <a:p>
            <a:pPr indent="0" lvl="0" marL="0" rtl="0" algn="l">
              <a:spcBef>
                <a:spcPts val="0"/>
              </a:spcBef>
              <a:spcAft>
                <a:spcPts val="0"/>
              </a:spcAft>
              <a:buNone/>
            </a:pPr>
            <a:r>
              <a:rPr lang="en" sz="3800"/>
              <a:t>Concurrent Neural Signal Processing for EEG Spindle Detection</a:t>
            </a:r>
            <a:endParaRPr sz="3800"/>
          </a:p>
        </p:txBody>
      </p:sp>
      <p:sp>
        <p:nvSpPr>
          <p:cNvPr id="60" name="Google Shape;60;p13"/>
          <p:cNvSpPr txBox="1"/>
          <p:nvPr>
            <p:ph idx="1" type="subTitle"/>
          </p:nvPr>
        </p:nvSpPr>
        <p:spPr>
          <a:xfrm>
            <a:off x="1284725" y="3105475"/>
            <a:ext cx="7579800" cy="1661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EFEFEF"/>
                </a:solidFill>
              </a:rPr>
              <a:t>Presented by:</a:t>
            </a:r>
            <a:endParaRPr>
              <a:solidFill>
                <a:srgbClr val="EFEFEF"/>
              </a:solidFill>
            </a:endParaRPr>
          </a:p>
          <a:p>
            <a:pPr indent="0" lvl="0" marL="0" rtl="0" algn="l">
              <a:spcBef>
                <a:spcPts val="0"/>
              </a:spcBef>
              <a:spcAft>
                <a:spcPts val="0"/>
              </a:spcAft>
              <a:buNone/>
            </a:pPr>
            <a:r>
              <a:rPr lang="en">
                <a:solidFill>
                  <a:srgbClr val="EFEFEF"/>
                </a:solidFill>
              </a:rPr>
              <a:t>Apurv Sanjay Deshpande and Hari Makarand Summant</a:t>
            </a:r>
            <a:endParaRPr>
              <a:solidFill>
                <a:srgbClr val="EFEFEF"/>
              </a:solidFill>
            </a:endParaRPr>
          </a:p>
          <a:p>
            <a:pPr indent="0" lvl="0" marL="0" rtl="0" algn="l">
              <a:spcBef>
                <a:spcPts val="0"/>
              </a:spcBef>
              <a:spcAft>
                <a:spcPts val="0"/>
              </a:spcAft>
              <a:buNone/>
            </a:pPr>
            <a:r>
              <a:t/>
            </a:r>
            <a:endParaRPr>
              <a:solidFill>
                <a:srgbClr val="EFEFEF"/>
              </a:solidFill>
            </a:endParaRPr>
          </a:p>
          <a:p>
            <a:pPr indent="0" lvl="0" marL="0" rtl="0" algn="l">
              <a:spcBef>
                <a:spcPts val="0"/>
              </a:spcBef>
              <a:spcAft>
                <a:spcPts val="0"/>
              </a:spcAft>
              <a:buNone/>
            </a:pPr>
            <a:r>
              <a:rPr lang="en">
                <a:solidFill>
                  <a:srgbClr val="EFEFEF"/>
                </a:solidFill>
              </a:rPr>
              <a:t>Under the guidance of Prof. Binoy Ravindran</a:t>
            </a:r>
            <a:endParaRPr>
              <a:solidFill>
                <a:srgbClr val="EFEFEF"/>
              </a:solidFill>
            </a:endParaRPr>
          </a:p>
          <a:p>
            <a:pPr indent="0" lvl="0" marL="0" rtl="0" algn="l">
              <a:spcBef>
                <a:spcPts val="0"/>
              </a:spcBef>
              <a:spcAft>
                <a:spcPts val="0"/>
              </a:spcAft>
              <a:buNone/>
            </a:pPr>
            <a:r>
              <a:t/>
            </a:r>
            <a:endParaRPr/>
          </a:p>
        </p:txBody>
      </p:sp>
      <p:sp>
        <p:nvSpPr>
          <p:cNvPr id="61" name="Google Shape;61;p13"/>
          <p:cNvSpPr txBox="1"/>
          <p:nvPr/>
        </p:nvSpPr>
        <p:spPr>
          <a:xfrm>
            <a:off x="861225" y="602425"/>
            <a:ext cx="6720300" cy="110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aseline="30000" lang="en" sz="3300">
                <a:solidFill>
                  <a:schemeClr val="dk1"/>
                </a:solidFill>
                <a:latin typeface="Old Standard TT"/>
                <a:ea typeface="Old Standard TT"/>
                <a:cs typeface="Old Standard TT"/>
                <a:sym typeface="Old Standard TT"/>
              </a:rPr>
              <a:t>ECE / CS 5510: MULTIPROCESSOR PROGRAMMING</a:t>
            </a:r>
            <a:endParaRPr baseline="30000" sz="3300">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rPr baseline="30000" lang="en" sz="3300">
                <a:solidFill>
                  <a:schemeClr val="dk1"/>
                </a:solidFill>
                <a:latin typeface="Old Standard TT"/>
                <a:ea typeface="Old Standard TT"/>
                <a:cs typeface="Old Standard TT"/>
                <a:sym typeface="Old Standard TT"/>
              </a:rPr>
              <a:t>Final Project </a:t>
            </a:r>
            <a:r>
              <a:rPr baseline="30000" lang="en" sz="3300">
                <a:solidFill>
                  <a:schemeClr val="dk1"/>
                </a:solidFill>
                <a:latin typeface="Old Standard TT"/>
                <a:ea typeface="Old Standard TT"/>
                <a:cs typeface="Old Standard TT"/>
                <a:sym typeface="Old Standard TT"/>
              </a:rPr>
              <a:t>Presentation</a:t>
            </a:r>
            <a:endParaRPr baseline="30000" sz="3300">
              <a:solidFill>
                <a:schemeClr val="dk1"/>
              </a:solidFill>
              <a:latin typeface="Old Standard TT"/>
              <a:ea typeface="Old Standard TT"/>
              <a:cs typeface="Old Standard TT"/>
              <a:sym typeface="Old Standard TT"/>
            </a:endParaRPr>
          </a:p>
        </p:txBody>
      </p:sp>
      <p:pic>
        <p:nvPicPr>
          <p:cNvPr id="62" name="Google Shape;62;p13"/>
          <p:cNvPicPr preferRelativeResize="0"/>
          <p:nvPr/>
        </p:nvPicPr>
        <p:blipFill>
          <a:blip r:embed="rId3">
            <a:alphaModFix/>
          </a:blip>
          <a:stretch>
            <a:fillRect/>
          </a:stretch>
        </p:blipFill>
        <p:spPr>
          <a:xfrm>
            <a:off x="6515824" y="-1"/>
            <a:ext cx="2628175" cy="6490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4"/>
          <p:cNvSpPr txBox="1"/>
          <p:nvPr>
            <p:ph type="title"/>
          </p:nvPr>
        </p:nvSpPr>
        <p:spPr>
          <a:xfrm>
            <a:off x="232500" y="592700"/>
            <a:ext cx="8679000" cy="471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600">
                <a:solidFill>
                  <a:schemeClr val="dk1"/>
                </a:solidFill>
              </a:rPr>
              <a:t>Motivation</a:t>
            </a:r>
            <a:endParaRPr sz="4600">
              <a:solidFill>
                <a:schemeClr val="dk1"/>
              </a:solidFill>
            </a:endParaRPr>
          </a:p>
          <a:p>
            <a:pPr indent="0" lvl="0" marL="0" rtl="0" algn="l">
              <a:spcBef>
                <a:spcPts val="0"/>
              </a:spcBef>
              <a:spcAft>
                <a:spcPts val="0"/>
              </a:spcAft>
              <a:buNone/>
            </a:pPr>
            <a:r>
              <a:t/>
            </a:r>
            <a:endParaRPr sz="2300">
              <a:solidFill>
                <a:schemeClr val="dk1"/>
              </a:solidFill>
            </a:endParaRPr>
          </a:p>
          <a:p>
            <a:pPr indent="-349250" lvl="0" marL="457200" rtl="0" algn="l">
              <a:spcBef>
                <a:spcPts val="0"/>
              </a:spcBef>
              <a:spcAft>
                <a:spcPts val="0"/>
              </a:spcAft>
              <a:buClr>
                <a:srgbClr val="FFFFFF"/>
              </a:buClr>
              <a:buSzPts val="1900"/>
              <a:buChar char="●"/>
            </a:pPr>
            <a:r>
              <a:rPr lang="en" sz="1900">
                <a:solidFill>
                  <a:srgbClr val="FFFFFF"/>
                </a:solidFill>
              </a:rPr>
              <a:t>The area of parallelism for EEG spindle detection is largely unexplored, with </a:t>
            </a:r>
            <a:r>
              <a:rPr lang="en" sz="1900">
                <a:solidFill>
                  <a:srgbClr val="FFFFFF"/>
                </a:solidFill>
              </a:rPr>
              <a:t>minimal </a:t>
            </a:r>
            <a:r>
              <a:rPr lang="en" sz="1900">
                <a:solidFill>
                  <a:srgbClr val="FFFFFF"/>
                </a:solidFill>
              </a:rPr>
              <a:t>prior work addressing its potential.</a:t>
            </a:r>
            <a:endParaRPr sz="1900">
              <a:solidFill>
                <a:srgbClr val="FFFFFF"/>
              </a:solidFill>
            </a:endParaRPr>
          </a:p>
          <a:p>
            <a:pPr indent="-349250" lvl="0" marL="457200" rtl="0" algn="l">
              <a:spcBef>
                <a:spcPts val="0"/>
              </a:spcBef>
              <a:spcAft>
                <a:spcPts val="0"/>
              </a:spcAft>
              <a:buClr>
                <a:srgbClr val="FFFFFF"/>
              </a:buClr>
              <a:buSzPts val="1900"/>
              <a:buChar char="●"/>
            </a:pPr>
            <a:r>
              <a:rPr lang="en" sz="1900">
                <a:solidFill>
                  <a:srgbClr val="FFFFFF"/>
                </a:solidFill>
              </a:rPr>
              <a:t>We are inspired by Elon Musk's </a:t>
            </a:r>
            <a:r>
              <a:rPr b="1" lang="en" sz="2000">
                <a:solidFill>
                  <a:srgbClr val="FFFFFF"/>
                </a:solidFill>
              </a:rPr>
              <a:t>Neuralink </a:t>
            </a:r>
            <a:r>
              <a:rPr lang="en" sz="1900">
                <a:solidFill>
                  <a:srgbClr val="FFFFFF"/>
                </a:solidFill>
              </a:rPr>
              <a:t>idea, which highlights the importance of real-time neural signal processing.</a:t>
            </a:r>
            <a:endParaRPr sz="1900">
              <a:solidFill>
                <a:srgbClr val="FFFFFF"/>
              </a:solidFill>
            </a:endParaRPr>
          </a:p>
          <a:p>
            <a:pPr indent="-349250" lvl="0" marL="457200" rtl="0" algn="l">
              <a:spcBef>
                <a:spcPts val="0"/>
              </a:spcBef>
              <a:spcAft>
                <a:spcPts val="0"/>
              </a:spcAft>
              <a:buClr>
                <a:srgbClr val="FFFFFF"/>
              </a:buClr>
              <a:buSzPts val="1900"/>
              <a:buChar char="●"/>
            </a:pPr>
            <a:r>
              <a:rPr lang="en" sz="1900">
                <a:solidFill>
                  <a:srgbClr val="FFFFFF"/>
                </a:solidFill>
              </a:rPr>
              <a:t>To possibly explore more scalable solutions in sleep </a:t>
            </a:r>
            <a:endParaRPr sz="1900">
              <a:solidFill>
                <a:srgbClr val="FFFFFF"/>
              </a:solidFill>
            </a:endParaRPr>
          </a:p>
          <a:p>
            <a:pPr indent="0" lvl="0" marL="457200" rtl="0" algn="l">
              <a:spcBef>
                <a:spcPts val="0"/>
              </a:spcBef>
              <a:spcAft>
                <a:spcPts val="0"/>
              </a:spcAft>
              <a:buNone/>
            </a:pPr>
            <a:r>
              <a:rPr lang="en" sz="1900">
                <a:solidFill>
                  <a:srgbClr val="FFFFFF"/>
                </a:solidFill>
              </a:rPr>
              <a:t>and neurological research.</a:t>
            </a:r>
            <a:endParaRPr sz="1900">
              <a:solidFill>
                <a:srgbClr val="FFFFFF"/>
              </a:solidFill>
            </a:endParaRPr>
          </a:p>
          <a:p>
            <a:pPr indent="0" lvl="0" marL="457200" rtl="0" algn="l">
              <a:spcBef>
                <a:spcPts val="0"/>
              </a:spcBef>
              <a:spcAft>
                <a:spcPts val="0"/>
              </a:spcAft>
              <a:buNone/>
            </a:pPr>
            <a:r>
              <a:t/>
            </a:r>
            <a:endParaRPr sz="1900">
              <a:solidFill>
                <a:schemeClr val="dk1"/>
              </a:solidFill>
            </a:endParaRPr>
          </a:p>
        </p:txBody>
      </p:sp>
      <p:pic>
        <p:nvPicPr>
          <p:cNvPr id="68" name="Google Shape;68;p14"/>
          <p:cNvPicPr preferRelativeResize="0"/>
          <p:nvPr/>
        </p:nvPicPr>
        <p:blipFill>
          <a:blip r:embed="rId3">
            <a:alphaModFix/>
          </a:blip>
          <a:stretch>
            <a:fillRect/>
          </a:stretch>
        </p:blipFill>
        <p:spPr>
          <a:xfrm>
            <a:off x="6515824" y="-1"/>
            <a:ext cx="2628175" cy="649075"/>
          </a:xfrm>
          <a:prstGeom prst="rect">
            <a:avLst/>
          </a:prstGeom>
          <a:noFill/>
          <a:ln>
            <a:noFill/>
          </a:ln>
        </p:spPr>
      </p:pic>
      <p:pic>
        <p:nvPicPr>
          <p:cNvPr id="69" name="Google Shape;69;p14"/>
          <p:cNvPicPr preferRelativeResize="0"/>
          <p:nvPr/>
        </p:nvPicPr>
        <p:blipFill>
          <a:blip r:embed="rId4">
            <a:alphaModFix/>
          </a:blip>
          <a:stretch>
            <a:fillRect/>
          </a:stretch>
        </p:blipFill>
        <p:spPr>
          <a:xfrm>
            <a:off x="6417926" y="2986925"/>
            <a:ext cx="2421575" cy="2044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382750" y="485925"/>
            <a:ext cx="8679000" cy="222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300">
                <a:solidFill>
                  <a:schemeClr val="dk1"/>
                </a:solidFill>
              </a:rPr>
              <a:t>Why Sleep Spindle Detection?</a:t>
            </a:r>
            <a:endParaRPr sz="4300">
              <a:solidFill>
                <a:schemeClr val="dk1"/>
              </a:solidFill>
            </a:endParaRPr>
          </a:p>
          <a:p>
            <a:pPr indent="0" lvl="0" marL="0" rtl="0" algn="l">
              <a:spcBef>
                <a:spcPts val="0"/>
              </a:spcBef>
              <a:spcAft>
                <a:spcPts val="0"/>
              </a:spcAft>
              <a:buNone/>
            </a:pPr>
            <a:r>
              <a:t/>
            </a:r>
            <a:endParaRPr sz="2000">
              <a:solidFill>
                <a:schemeClr val="dk1"/>
              </a:solidFill>
            </a:endParaRPr>
          </a:p>
          <a:p>
            <a:pPr indent="-330200" lvl="0" marL="457200" rtl="0" algn="l">
              <a:spcBef>
                <a:spcPts val="0"/>
              </a:spcBef>
              <a:spcAft>
                <a:spcPts val="0"/>
              </a:spcAft>
              <a:buClr>
                <a:srgbClr val="FFFFFF"/>
              </a:buClr>
              <a:buSzPts val="1600"/>
              <a:buChar char="●"/>
            </a:pPr>
            <a:r>
              <a:rPr lang="en" sz="1600">
                <a:solidFill>
                  <a:srgbClr val="FFFFFF"/>
                </a:solidFill>
              </a:rPr>
              <a:t>Sleep spindles are critical for understanding cognitive functions like memory consolidation and sensory integration.</a:t>
            </a:r>
            <a:endParaRPr sz="1600">
              <a:solidFill>
                <a:srgbClr val="FFFFFF"/>
              </a:solidFill>
            </a:endParaRPr>
          </a:p>
          <a:p>
            <a:pPr indent="-330200" lvl="0" marL="457200" rtl="0" algn="l">
              <a:spcBef>
                <a:spcPts val="0"/>
              </a:spcBef>
              <a:spcAft>
                <a:spcPts val="0"/>
              </a:spcAft>
              <a:buClr>
                <a:srgbClr val="FFFFFF"/>
              </a:buClr>
              <a:buSzPts val="1600"/>
              <a:buChar char="●"/>
            </a:pPr>
            <a:r>
              <a:rPr lang="en" sz="1600">
                <a:solidFill>
                  <a:srgbClr val="FFFFFF"/>
                </a:solidFill>
              </a:rPr>
              <a:t>Detecting spindles helps diagnose sleep disorders and evaluate neurological health.</a:t>
            </a:r>
            <a:endParaRPr sz="1600">
              <a:solidFill>
                <a:srgbClr val="FFFFFF"/>
              </a:solidFill>
            </a:endParaRPr>
          </a:p>
          <a:p>
            <a:pPr indent="0" lvl="0" marL="457200" rtl="0" algn="l">
              <a:spcBef>
                <a:spcPts val="0"/>
              </a:spcBef>
              <a:spcAft>
                <a:spcPts val="0"/>
              </a:spcAft>
              <a:buNone/>
            </a:pPr>
            <a:r>
              <a:t/>
            </a:r>
            <a:endParaRPr sz="1600">
              <a:solidFill>
                <a:schemeClr val="dk1"/>
              </a:solidFill>
            </a:endParaRPr>
          </a:p>
        </p:txBody>
      </p:sp>
      <p:pic>
        <p:nvPicPr>
          <p:cNvPr id="75" name="Google Shape;75;p15"/>
          <p:cNvPicPr preferRelativeResize="0"/>
          <p:nvPr/>
        </p:nvPicPr>
        <p:blipFill>
          <a:blip r:embed="rId3">
            <a:alphaModFix/>
          </a:blip>
          <a:stretch>
            <a:fillRect/>
          </a:stretch>
        </p:blipFill>
        <p:spPr>
          <a:xfrm>
            <a:off x="6515824" y="-1"/>
            <a:ext cx="2628175" cy="649075"/>
          </a:xfrm>
          <a:prstGeom prst="rect">
            <a:avLst/>
          </a:prstGeom>
          <a:noFill/>
          <a:ln>
            <a:noFill/>
          </a:ln>
        </p:spPr>
      </p:pic>
      <p:sp>
        <p:nvSpPr>
          <p:cNvPr id="76" name="Google Shape;76;p15"/>
          <p:cNvSpPr txBox="1"/>
          <p:nvPr>
            <p:ph type="title"/>
          </p:nvPr>
        </p:nvSpPr>
        <p:spPr>
          <a:xfrm>
            <a:off x="303400" y="2626925"/>
            <a:ext cx="8679000" cy="222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300">
                <a:solidFill>
                  <a:schemeClr val="dk1"/>
                </a:solidFill>
              </a:rPr>
              <a:t>Challenges in current methods:</a:t>
            </a:r>
            <a:endParaRPr sz="4300">
              <a:solidFill>
                <a:schemeClr val="dk1"/>
              </a:solidFill>
            </a:endParaRPr>
          </a:p>
          <a:p>
            <a:pPr indent="0" lvl="0" marL="0" rtl="0" algn="l">
              <a:spcBef>
                <a:spcPts val="0"/>
              </a:spcBef>
              <a:spcAft>
                <a:spcPts val="0"/>
              </a:spcAft>
              <a:buNone/>
            </a:pPr>
            <a:r>
              <a:t/>
            </a:r>
            <a:endParaRPr sz="2000">
              <a:solidFill>
                <a:schemeClr val="dk1"/>
              </a:solidFill>
            </a:endParaRPr>
          </a:p>
          <a:p>
            <a:pPr indent="-330200" lvl="0" marL="457200" rtl="0" algn="l">
              <a:spcBef>
                <a:spcPts val="0"/>
              </a:spcBef>
              <a:spcAft>
                <a:spcPts val="0"/>
              </a:spcAft>
              <a:buClr>
                <a:srgbClr val="FFFFFF"/>
              </a:buClr>
              <a:buSzPts val="1600"/>
              <a:buChar char="●"/>
            </a:pPr>
            <a:r>
              <a:rPr lang="en" sz="1600">
                <a:solidFill>
                  <a:srgbClr val="FFFFFF"/>
                </a:solidFill>
              </a:rPr>
              <a:t>Long training times for neural networks, not good for real-time analysis.</a:t>
            </a:r>
            <a:endParaRPr sz="1600">
              <a:solidFill>
                <a:srgbClr val="FFFFFF"/>
              </a:solidFill>
            </a:endParaRPr>
          </a:p>
          <a:p>
            <a:pPr indent="-330200" lvl="0" marL="457200" rtl="0" algn="l">
              <a:spcBef>
                <a:spcPts val="0"/>
              </a:spcBef>
              <a:spcAft>
                <a:spcPts val="0"/>
              </a:spcAft>
              <a:buClr>
                <a:srgbClr val="FFFFFF"/>
              </a:buClr>
              <a:buSzPts val="1600"/>
              <a:buChar char="●"/>
            </a:pPr>
            <a:r>
              <a:rPr lang="en" sz="1600">
                <a:solidFill>
                  <a:srgbClr val="FFFFFF"/>
                </a:solidFill>
              </a:rPr>
              <a:t>Minimal exploration of parallel processing for neural network training.</a:t>
            </a:r>
            <a:endParaRPr sz="1600">
              <a:solidFill>
                <a:srgbClr val="FFFFFF"/>
              </a:solidFill>
            </a:endParaRPr>
          </a:p>
          <a:p>
            <a:pPr indent="0" lvl="0" marL="457200" rtl="0" algn="l">
              <a:spcBef>
                <a:spcPts val="0"/>
              </a:spcBef>
              <a:spcAft>
                <a:spcPts val="0"/>
              </a:spcAft>
              <a:buNone/>
            </a:pPr>
            <a:r>
              <a:t/>
            </a:r>
            <a:endParaRPr sz="16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490250" y="526350"/>
            <a:ext cx="5604000" cy="409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400">
                <a:solidFill>
                  <a:srgbClr val="000000"/>
                </a:solidFill>
              </a:rPr>
              <a:t>Spindle Activity Example:</a:t>
            </a:r>
            <a:endParaRPr b="1" sz="3400">
              <a:solidFill>
                <a:srgbClr val="000000"/>
              </a:solidFill>
            </a:endParaRPr>
          </a:p>
        </p:txBody>
      </p:sp>
      <p:pic>
        <p:nvPicPr>
          <p:cNvPr id="82" name="Google Shape;82;p16"/>
          <p:cNvPicPr preferRelativeResize="0"/>
          <p:nvPr/>
        </p:nvPicPr>
        <p:blipFill>
          <a:blip r:embed="rId3">
            <a:alphaModFix/>
          </a:blip>
          <a:stretch>
            <a:fillRect/>
          </a:stretch>
        </p:blipFill>
        <p:spPr>
          <a:xfrm>
            <a:off x="1341776" y="1383075"/>
            <a:ext cx="5548300" cy="340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pic>
        <p:nvPicPr>
          <p:cNvPr id="87" name="Google Shape;87;p17"/>
          <p:cNvPicPr preferRelativeResize="0"/>
          <p:nvPr/>
        </p:nvPicPr>
        <p:blipFill>
          <a:blip r:embed="rId3">
            <a:alphaModFix/>
          </a:blip>
          <a:stretch>
            <a:fillRect/>
          </a:stretch>
        </p:blipFill>
        <p:spPr>
          <a:xfrm>
            <a:off x="6515824" y="-1"/>
            <a:ext cx="2628175" cy="649075"/>
          </a:xfrm>
          <a:prstGeom prst="rect">
            <a:avLst/>
          </a:prstGeom>
          <a:noFill/>
          <a:ln>
            <a:noFill/>
          </a:ln>
        </p:spPr>
      </p:pic>
      <p:sp>
        <p:nvSpPr>
          <p:cNvPr id="88" name="Google Shape;88;p17"/>
          <p:cNvSpPr txBox="1"/>
          <p:nvPr>
            <p:ph type="title"/>
          </p:nvPr>
        </p:nvSpPr>
        <p:spPr>
          <a:xfrm>
            <a:off x="232500" y="592700"/>
            <a:ext cx="8679000" cy="471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600">
                <a:solidFill>
                  <a:schemeClr val="dk1"/>
                </a:solidFill>
              </a:rPr>
              <a:t>Problem Statement:</a:t>
            </a:r>
            <a:endParaRPr sz="4600">
              <a:solidFill>
                <a:schemeClr val="dk1"/>
              </a:solidFill>
            </a:endParaRPr>
          </a:p>
          <a:p>
            <a:pPr indent="0" lvl="0" marL="0" rtl="0" algn="l">
              <a:spcBef>
                <a:spcPts val="0"/>
              </a:spcBef>
              <a:spcAft>
                <a:spcPts val="0"/>
              </a:spcAft>
              <a:buNone/>
            </a:pPr>
            <a:r>
              <a:t/>
            </a:r>
            <a:endParaRPr sz="4400">
              <a:solidFill>
                <a:schemeClr val="dk1"/>
              </a:solidFill>
            </a:endParaRPr>
          </a:p>
          <a:p>
            <a:pPr indent="0" lvl="0" marL="0" rtl="0" algn="l">
              <a:spcBef>
                <a:spcPts val="0"/>
              </a:spcBef>
              <a:spcAft>
                <a:spcPts val="0"/>
              </a:spcAft>
              <a:buNone/>
            </a:pPr>
            <a:r>
              <a:rPr lang="en" sz="3100">
                <a:solidFill>
                  <a:srgbClr val="FFFFFF"/>
                </a:solidFill>
              </a:rPr>
              <a:t>“Improving the training and evaluation of neural networks (time-series Autoencoder) for EEG Spindle Detection using </a:t>
            </a:r>
            <a:r>
              <a:rPr lang="en" sz="3100">
                <a:solidFill>
                  <a:srgbClr val="FFFFFF"/>
                </a:solidFill>
              </a:rPr>
              <a:t>parallel</a:t>
            </a:r>
            <a:r>
              <a:rPr lang="en" sz="3100">
                <a:solidFill>
                  <a:srgbClr val="FFFFFF"/>
                </a:solidFill>
              </a:rPr>
              <a:t> </a:t>
            </a:r>
            <a:r>
              <a:rPr lang="en" sz="3100">
                <a:solidFill>
                  <a:srgbClr val="FFFFFF"/>
                </a:solidFill>
              </a:rPr>
              <a:t>programming to address limitations of sequential processing”</a:t>
            </a:r>
            <a:endParaRPr sz="3100">
              <a:solidFill>
                <a:srgbClr val="FFFFFF"/>
              </a:solidFill>
            </a:endParaRPr>
          </a:p>
          <a:p>
            <a:pPr indent="0" lvl="0" marL="0" rtl="0" algn="l">
              <a:spcBef>
                <a:spcPts val="0"/>
              </a:spcBef>
              <a:spcAft>
                <a:spcPts val="0"/>
              </a:spcAft>
              <a:buNone/>
            </a:pPr>
            <a:r>
              <a:t/>
            </a:r>
            <a:endParaRPr sz="2300">
              <a:solidFill>
                <a:schemeClr val="dk1"/>
              </a:solidFill>
            </a:endParaRPr>
          </a:p>
          <a:p>
            <a:pPr indent="0" lvl="0" marL="457200" rtl="0" algn="l">
              <a:spcBef>
                <a:spcPts val="0"/>
              </a:spcBef>
              <a:spcAft>
                <a:spcPts val="0"/>
              </a:spcAft>
              <a:buNone/>
            </a:pPr>
            <a:r>
              <a:t/>
            </a:r>
            <a:endParaRPr sz="1900">
              <a:solidFill>
                <a:schemeClr val="dk1"/>
              </a:solidFill>
            </a:endParaRPr>
          </a:p>
          <a:p>
            <a:pPr indent="0" lvl="0" marL="457200" rtl="0" algn="l">
              <a:spcBef>
                <a:spcPts val="0"/>
              </a:spcBef>
              <a:spcAft>
                <a:spcPts val="0"/>
              </a:spcAft>
              <a:buNone/>
            </a:pPr>
            <a:r>
              <a:t/>
            </a:r>
            <a:endParaRPr sz="19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pic>
        <p:nvPicPr>
          <p:cNvPr id="93" name="Google Shape;93;p18"/>
          <p:cNvPicPr preferRelativeResize="0"/>
          <p:nvPr/>
        </p:nvPicPr>
        <p:blipFill>
          <a:blip r:embed="rId3">
            <a:alphaModFix/>
          </a:blip>
          <a:stretch>
            <a:fillRect/>
          </a:stretch>
        </p:blipFill>
        <p:spPr>
          <a:xfrm>
            <a:off x="6515824" y="-1"/>
            <a:ext cx="2628175" cy="649075"/>
          </a:xfrm>
          <a:prstGeom prst="rect">
            <a:avLst/>
          </a:prstGeom>
          <a:noFill/>
          <a:ln>
            <a:noFill/>
          </a:ln>
        </p:spPr>
      </p:pic>
      <p:sp>
        <p:nvSpPr>
          <p:cNvPr id="94" name="Google Shape;94;p18"/>
          <p:cNvSpPr txBox="1"/>
          <p:nvPr>
            <p:ph type="title"/>
          </p:nvPr>
        </p:nvSpPr>
        <p:spPr>
          <a:xfrm>
            <a:off x="232500" y="592700"/>
            <a:ext cx="8679000" cy="414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600">
                <a:solidFill>
                  <a:schemeClr val="dk1"/>
                </a:solidFill>
              </a:rPr>
              <a:t>Related work</a:t>
            </a:r>
            <a:r>
              <a:rPr lang="en" sz="4600">
                <a:solidFill>
                  <a:schemeClr val="dk1"/>
                </a:solidFill>
              </a:rPr>
              <a:t>:</a:t>
            </a:r>
            <a:endParaRPr sz="4600">
              <a:solidFill>
                <a:schemeClr val="dk1"/>
              </a:solidFill>
            </a:endParaRPr>
          </a:p>
          <a:p>
            <a:pPr indent="0" lvl="0" marL="0" rtl="0" algn="l">
              <a:spcBef>
                <a:spcPts val="0"/>
              </a:spcBef>
              <a:spcAft>
                <a:spcPts val="0"/>
              </a:spcAft>
              <a:buNone/>
            </a:pPr>
            <a:r>
              <a:t/>
            </a:r>
            <a:endParaRPr sz="18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Accuracy-Focused Approaches:</a:t>
            </a:r>
            <a:r>
              <a:rPr lang="en" sz="1500">
                <a:solidFill>
                  <a:schemeClr val="dk1"/>
                </a:solidFill>
              </a:rPr>
              <a:t> </a:t>
            </a:r>
            <a:r>
              <a:rPr lang="en" sz="1500">
                <a:solidFill>
                  <a:srgbClr val="FFFFFF"/>
                </a:solidFill>
              </a:rPr>
              <a:t>Most studies prioritize improving detection accuracy through machine learning techniques, like neural networks for spindle identification.</a:t>
            </a:r>
            <a:endParaRPr sz="1500">
              <a:solidFill>
                <a:srgbClr val="FFFFFF"/>
              </a:solidFill>
            </a:endParaRPr>
          </a:p>
          <a:p>
            <a:pPr indent="0" lvl="0" marL="457200" rtl="0" algn="l">
              <a:spcBef>
                <a:spcPts val="0"/>
              </a:spcBef>
              <a:spcAft>
                <a:spcPts val="0"/>
              </a:spcAft>
              <a:buNone/>
            </a:pPr>
            <a:r>
              <a:t/>
            </a: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Feature Engineering:</a:t>
            </a:r>
            <a:r>
              <a:rPr lang="en" sz="1500">
                <a:solidFill>
                  <a:schemeClr val="dk1"/>
                </a:solidFill>
              </a:rPr>
              <a:t> </a:t>
            </a:r>
            <a:r>
              <a:rPr lang="en" sz="1500">
                <a:solidFill>
                  <a:srgbClr val="FFFFFF"/>
                </a:solidFill>
              </a:rPr>
              <a:t>Previous research emphasizes advanced feature extraction methods, such as wavelet Fourier analysis and statistical features, to enhance model performance.</a:t>
            </a:r>
            <a:endParaRPr sz="1500">
              <a:solidFill>
                <a:srgbClr val="FFFFFF"/>
              </a:solidFill>
            </a:endParaRPr>
          </a:p>
          <a:p>
            <a:pPr indent="0" lvl="0" marL="457200" rtl="0" algn="l">
              <a:spcBef>
                <a:spcPts val="0"/>
              </a:spcBef>
              <a:spcAft>
                <a:spcPts val="0"/>
              </a:spcAft>
              <a:buNone/>
            </a:pPr>
            <a:r>
              <a:t/>
            </a: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Lack of Parallelism:</a:t>
            </a:r>
            <a:r>
              <a:rPr lang="en" sz="1500">
                <a:solidFill>
                  <a:schemeClr val="dk1"/>
                </a:solidFill>
              </a:rPr>
              <a:t> </a:t>
            </a:r>
            <a:r>
              <a:rPr lang="en" sz="1500">
                <a:solidFill>
                  <a:srgbClr val="FFFFFF"/>
                </a:solidFill>
              </a:rPr>
              <a:t>Limited studies address computational efficiency, with almost no exploration of parallel processing for faster training or evaluation in EEG spindle detection.</a:t>
            </a:r>
            <a:endParaRPr sz="1500">
              <a:solidFill>
                <a:srgbClr val="FFFFFF"/>
              </a:solidFill>
            </a:endParaRPr>
          </a:p>
          <a:p>
            <a:pPr indent="0" lvl="0" marL="457200" rtl="0" algn="l">
              <a:spcBef>
                <a:spcPts val="0"/>
              </a:spcBef>
              <a:spcAft>
                <a:spcPts val="0"/>
              </a:spcAft>
              <a:buNone/>
            </a:pPr>
            <a:r>
              <a:t/>
            </a: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Our </a:t>
            </a:r>
            <a:r>
              <a:rPr b="1" lang="en" sz="1500">
                <a:solidFill>
                  <a:schemeClr val="dk1"/>
                </a:solidFill>
              </a:rPr>
              <a:t>Approach</a:t>
            </a:r>
            <a:r>
              <a:rPr b="1" lang="en" sz="1500">
                <a:solidFill>
                  <a:schemeClr val="dk1"/>
                </a:solidFill>
              </a:rPr>
              <a:t>:</a:t>
            </a:r>
            <a:r>
              <a:rPr lang="en" sz="1500">
                <a:solidFill>
                  <a:schemeClr val="dk1"/>
                </a:solidFill>
              </a:rPr>
              <a:t> </a:t>
            </a:r>
            <a:r>
              <a:rPr lang="en" sz="1500">
                <a:solidFill>
                  <a:srgbClr val="FFFFFF"/>
                </a:solidFill>
              </a:rPr>
              <a:t>We address this gap by introducing parallel training and evaluation techniques for a time-series autoencoder model, targeting both speed and accuracy.</a:t>
            </a:r>
            <a:endParaRPr sz="1500">
              <a:solidFill>
                <a:srgbClr val="FFFFFF"/>
              </a:solidFill>
            </a:endParaRPr>
          </a:p>
          <a:p>
            <a:pPr indent="0" lvl="0" marL="457200" rtl="0" algn="l">
              <a:spcBef>
                <a:spcPts val="0"/>
              </a:spcBef>
              <a:spcAft>
                <a:spcPts val="0"/>
              </a:spcAft>
              <a:buNone/>
            </a:pPr>
            <a:r>
              <a:t/>
            </a:r>
            <a:endParaRPr sz="1500">
              <a:solidFill>
                <a:schemeClr val="dk1"/>
              </a:solidFill>
            </a:endParaRPr>
          </a:p>
          <a:p>
            <a:pPr indent="0" lvl="0" marL="457200" rtl="0" algn="l">
              <a:spcBef>
                <a:spcPts val="0"/>
              </a:spcBef>
              <a:spcAft>
                <a:spcPts val="0"/>
              </a:spcAft>
              <a:buNone/>
            </a:pPr>
            <a:r>
              <a:t/>
            </a:r>
            <a:endParaRPr sz="1900">
              <a:solidFill>
                <a:schemeClr val="dk1"/>
              </a:solidFill>
            </a:endParaRPr>
          </a:p>
          <a:p>
            <a:pPr indent="0" lvl="0" marL="457200" rtl="0" algn="l">
              <a:spcBef>
                <a:spcPts val="0"/>
              </a:spcBef>
              <a:spcAft>
                <a:spcPts val="0"/>
              </a:spcAft>
              <a:buNone/>
            </a:pPr>
            <a:r>
              <a:t/>
            </a:r>
            <a:endParaRPr sz="19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99999"/>
        </a:solidFill>
      </p:bgPr>
    </p:bg>
    <p:spTree>
      <p:nvGrpSpPr>
        <p:cNvPr id="98" name="Shape 98"/>
        <p:cNvGrpSpPr/>
        <p:nvPr/>
      </p:nvGrpSpPr>
      <p:grpSpPr>
        <a:xfrm>
          <a:off x="0" y="0"/>
          <a:ext cx="0" cy="0"/>
          <a:chOff x="0" y="0"/>
          <a:chExt cx="0" cy="0"/>
        </a:xfrm>
      </p:grpSpPr>
      <p:sp>
        <p:nvSpPr>
          <p:cNvPr id="99" name="Google Shape;99;p19"/>
          <p:cNvSpPr txBox="1"/>
          <p:nvPr>
            <p:ph type="title"/>
          </p:nvPr>
        </p:nvSpPr>
        <p:spPr>
          <a:xfrm>
            <a:off x="368475" y="581750"/>
            <a:ext cx="9014700" cy="88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5000"/>
              <a:t>Approach used in our Solution</a:t>
            </a:r>
            <a:endParaRPr sz="5000"/>
          </a:p>
        </p:txBody>
      </p:sp>
      <p:pic>
        <p:nvPicPr>
          <p:cNvPr id="100" name="Google Shape;100;p19"/>
          <p:cNvPicPr preferRelativeResize="0"/>
          <p:nvPr/>
        </p:nvPicPr>
        <p:blipFill>
          <a:blip r:embed="rId3">
            <a:alphaModFix/>
          </a:blip>
          <a:stretch>
            <a:fillRect/>
          </a:stretch>
        </p:blipFill>
        <p:spPr>
          <a:xfrm>
            <a:off x="6515824" y="-1"/>
            <a:ext cx="2628175" cy="649075"/>
          </a:xfrm>
          <a:prstGeom prst="rect">
            <a:avLst/>
          </a:prstGeom>
          <a:noFill/>
          <a:ln>
            <a:noFill/>
          </a:ln>
        </p:spPr>
      </p:pic>
      <p:grpSp>
        <p:nvGrpSpPr>
          <p:cNvPr id="101" name="Google Shape;101;p19"/>
          <p:cNvGrpSpPr/>
          <p:nvPr/>
        </p:nvGrpSpPr>
        <p:grpSpPr>
          <a:xfrm>
            <a:off x="5620721" y="1470943"/>
            <a:ext cx="2816126" cy="3605655"/>
            <a:chOff x="5632317" y="1189775"/>
            <a:chExt cx="3305700" cy="3483051"/>
          </a:xfrm>
        </p:grpSpPr>
        <p:sp>
          <p:nvSpPr>
            <p:cNvPr id="102" name="Google Shape;102;p19"/>
            <p:cNvSpPr/>
            <p:nvPr/>
          </p:nvSpPr>
          <p:spPr>
            <a:xfrm>
              <a:off x="5632317" y="1189775"/>
              <a:ext cx="3305700" cy="669000"/>
            </a:xfrm>
            <a:prstGeom prst="chevron">
              <a:avLst>
                <a:gd fmla="val 50000" name="adj"/>
              </a:avLst>
            </a:prstGeom>
            <a:solidFill>
              <a:srgbClr val="D8372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Evaluation and benchmarking</a:t>
              </a:r>
              <a:endParaRPr>
                <a:solidFill>
                  <a:srgbClr val="FFFFFF"/>
                </a:solidFill>
                <a:latin typeface="Roboto"/>
                <a:ea typeface="Roboto"/>
                <a:cs typeface="Roboto"/>
                <a:sym typeface="Roboto"/>
              </a:endParaRPr>
            </a:p>
          </p:txBody>
        </p:sp>
        <p:sp>
          <p:nvSpPr>
            <p:cNvPr id="103" name="Google Shape;103;p19"/>
            <p:cNvSpPr txBox="1"/>
            <p:nvPr/>
          </p:nvSpPr>
          <p:spPr>
            <a:xfrm>
              <a:off x="5632325" y="2057126"/>
              <a:ext cx="2771100" cy="26157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SzPts val="1200"/>
                <a:buFont typeface="Roboto"/>
                <a:buChar char="●"/>
              </a:pPr>
              <a:r>
                <a:rPr lang="en" sz="1200">
                  <a:latin typeface="Roboto"/>
                  <a:ea typeface="Roboto"/>
                  <a:cs typeface="Roboto"/>
                  <a:sym typeface="Roboto"/>
                </a:rPr>
                <a:t>Developed a parallel evaluation strategy to process batches concurrently across multiple cores.</a:t>
              </a:r>
              <a:endParaRPr sz="1200">
                <a:latin typeface="Roboto"/>
                <a:ea typeface="Roboto"/>
                <a:cs typeface="Roboto"/>
                <a:sym typeface="Roboto"/>
              </a:endParaRPr>
            </a:p>
            <a:p>
              <a:pPr indent="-304800" lvl="0" marL="457200" rtl="0" algn="l">
                <a:lnSpc>
                  <a:spcPct val="115000"/>
                </a:lnSpc>
                <a:spcBef>
                  <a:spcPts val="0"/>
                </a:spcBef>
                <a:spcAft>
                  <a:spcPts val="0"/>
                </a:spcAft>
                <a:buSzPts val="1200"/>
                <a:buFont typeface="Roboto"/>
                <a:buChar char="●"/>
              </a:pPr>
              <a:r>
                <a:rPr lang="en" sz="1200">
                  <a:latin typeface="Roboto"/>
                  <a:ea typeface="Roboto"/>
                  <a:cs typeface="Roboto"/>
                  <a:sym typeface="Roboto"/>
                </a:rPr>
                <a:t>Parallelism should not reduce the accuracy of the model.</a:t>
              </a:r>
              <a:endParaRPr sz="1200">
                <a:latin typeface="Roboto"/>
                <a:ea typeface="Roboto"/>
                <a:cs typeface="Roboto"/>
                <a:sym typeface="Roboto"/>
              </a:endParaRPr>
            </a:p>
            <a:p>
              <a:pPr indent="-304800" lvl="0" marL="457200" rtl="0" algn="l">
                <a:lnSpc>
                  <a:spcPct val="115000"/>
                </a:lnSpc>
                <a:spcBef>
                  <a:spcPts val="0"/>
                </a:spcBef>
                <a:spcAft>
                  <a:spcPts val="0"/>
                </a:spcAft>
                <a:buSzPts val="1200"/>
                <a:buFont typeface="Roboto"/>
                <a:buChar char="●"/>
              </a:pPr>
              <a:r>
                <a:rPr lang="en" sz="1200">
                  <a:latin typeface="Roboto"/>
                  <a:ea typeface="Roboto"/>
                  <a:cs typeface="Roboto"/>
                  <a:sym typeface="Roboto"/>
                </a:rPr>
                <a:t>Benchmarking was done against a sequential approach to find speedup.</a:t>
              </a:r>
              <a:endParaRPr sz="1200">
                <a:latin typeface="Roboto"/>
                <a:ea typeface="Roboto"/>
                <a:cs typeface="Roboto"/>
                <a:sym typeface="Roboto"/>
              </a:endParaRPr>
            </a:p>
          </p:txBody>
        </p:sp>
      </p:grpSp>
      <p:grpSp>
        <p:nvGrpSpPr>
          <p:cNvPr id="104" name="Google Shape;104;p19"/>
          <p:cNvGrpSpPr/>
          <p:nvPr/>
        </p:nvGrpSpPr>
        <p:grpSpPr>
          <a:xfrm>
            <a:off x="822550" y="1471165"/>
            <a:ext cx="3021604" cy="3605431"/>
            <a:chOff x="0" y="1189989"/>
            <a:chExt cx="3546900" cy="3482836"/>
          </a:xfrm>
        </p:grpSpPr>
        <p:sp>
          <p:nvSpPr>
            <p:cNvPr id="105" name="Google Shape;105;p19"/>
            <p:cNvSpPr/>
            <p:nvPr/>
          </p:nvSpPr>
          <p:spPr>
            <a:xfrm>
              <a:off x="0" y="1189989"/>
              <a:ext cx="3546900" cy="669000"/>
            </a:xfrm>
            <a:prstGeom prst="homePlate">
              <a:avLst>
                <a:gd fmla="val 50000" name="adj"/>
              </a:avLst>
            </a:prstGeom>
            <a:solidFill>
              <a:srgbClr val="801F1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Language and tools</a:t>
              </a:r>
              <a:endParaRPr>
                <a:solidFill>
                  <a:srgbClr val="FFFFFF"/>
                </a:solidFill>
                <a:latin typeface="Roboto"/>
                <a:ea typeface="Roboto"/>
                <a:cs typeface="Roboto"/>
                <a:sym typeface="Roboto"/>
              </a:endParaRPr>
            </a:p>
          </p:txBody>
        </p:sp>
        <p:sp>
          <p:nvSpPr>
            <p:cNvPr id="106" name="Google Shape;106;p19"/>
            <p:cNvSpPr txBox="1"/>
            <p:nvPr/>
          </p:nvSpPr>
          <p:spPr>
            <a:xfrm>
              <a:off x="655361" y="2057125"/>
              <a:ext cx="2236200" cy="26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latin typeface="Roboto"/>
                  <a:ea typeface="Roboto"/>
                  <a:cs typeface="Roboto"/>
                  <a:sym typeface="Roboto"/>
                </a:rPr>
                <a:t>Implemented in Python using PyTorch. </a:t>
              </a:r>
              <a:endParaRPr sz="1200">
                <a:latin typeface="Roboto"/>
                <a:ea typeface="Roboto"/>
                <a:cs typeface="Roboto"/>
                <a:sym typeface="Roboto"/>
              </a:endParaRPr>
            </a:p>
            <a:p>
              <a:pPr indent="0" lvl="0" marL="0" rtl="0" algn="l">
                <a:lnSpc>
                  <a:spcPct val="115000"/>
                </a:lnSpc>
                <a:spcBef>
                  <a:spcPts val="0"/>
                </a:spcBef>
                <a:spcAft>
                  <a:spcPts val="0"/>
                </a:spcAft>
                <a:buNone/>
              </a:pPr>
              <a:r>
                <a:t/>
              </a:r>
              <a:endParaRPr sz="1200">
                <a:latin typeface="Roboto"/>
                <a:ea typeface="Roboto"/>
                <a:cs typeface="Roboto"/>
                <a:sym typeface="Roboto"/>
              </a:endParaRPr>
            </a:p>
            <a:p>
              <a:pPr indent="0" lvl="0" marL="0" rtl="0" algn="l">
                <a:lnSpc>
                  <a:spcPct val="115000"/>
                </a:lnSpc>
                <a:spcBef>
                  <a:spcPts val="0"/>
                </a:spcBef>
                <a:spcAft>
                  <a:spcPts val="0"/>
                </a:spcAft>
                <a:buNone/>
              </a:pPr>
              <a:r>
                <a:rPr lang="en" sz="1200">
                  <a:latin typeface="Roboto"/>
                  <a:ea typeface="Roboto"/>
                  <a:cs typeface="Roboto"/>
                  <a:sym typeface="Roboto"/>
                </a:rPr>
                <a:t>Multiprocessing library provided.</a:t>
              </a:r>
              <a:endParaRPr sz="1200">
                <a:latin typeface="Roboto"/>
                <a:ea typeface="Roboto"/>
                <a:cs typeface="Roboto"/>
                <a:sym typeface="Roboto"/>
              </a:endParaRPr>
            </a:p>
            <a:p>
              <a:pPr indent="0" lvl="0" marL="0" rtl="0" algn="l">
                <a:lnSpc>
                  <a:spcPct val="115000"/>
                </a:lnSpc>
                <a:spcBef>
                  <a:spcPts val="0"/>
                </a:spcBef>
                <a:spcAft>
                  <a:spcPts val="0"/>
                </a:spcAft>
                <a:buNone/>
              </a:pPr>
              <a:r>
                <a:t/>
              </a:r>
              <a:endParaRPr sz="1200">
                <a:latin typeface="Roboto"/>
                <a:ea typeface="Roboto"/>
                <a:cs typeface="Roboto"/>
                <a:sym typeface="Roboto"/>
              </a:endParaRPr>
            </a:p>
            <a:p>
              <a:pPr indent="0" lvl="0" marL="0" rtl="0" algn="l">
                <a:lnSpc>
                  <a:spcPct val="115000"/>
                </a:lnSpc>
                <a:spcBef>
                  <a:spcPts val="0"/>
                </a:spcBef>
                <a:spcAft>
                  <a:spcPts val="0"/>
                </a:spcAft>
                <a:buNone/>
              </a:pPr>
              <a:r>
                <a:rPr lang="en" sz="1200">
                  <a:latin typeface="Roboto"/>
                  <a:ea typeface="Roboto"/>
                  <a:cs typeface="Roboto"/>
                  <a:sym typeface="Roboto"/>
                </a:rPr>
                <a:t>Psutil library.</a:t>
              </a:r>
              <a:endParaRPr sz="1200">
                <a:latin typeface="Roboto"/>
                <a:ea typeface="Roboto"/>
                <a:cs typeface="Roboto"/>
                <a:sym typeface="Roboto"/>
              </a:endParaRPr>
            </a:p>
          </p:txBody>
        </p:sp>
      </p:grpSp>
      <p:grpSp>
        <p:nvGrpSpPr>
          <p:cNvPr id="107" name="Google Shape;107;p19"/>
          <p:cNvGrpSpPr/>
          <p:nvPr/>
        </p:nvGrpSpPr>
        <p:grpSpPr>
          <a:xfrm>
            <a:off x="3264522" y="1470943"/>
            <a:ext cx="2882321" cy="3605655"/>
            <a:chOff x="2866501" y="1189775"/>
            <a:chExt cx="3383404" cy="3483051"/>
          </a:xfrm>
        </p:grpSpPr>
        <p:sp>
          <p:nvSpPr>
            <p:cNvPr id="108" name="Google Shape;108;p19"/>
            <p:cNvSpPr/>
            <p:nvPr/>
          </p:nvSpPr>
          <p:spPr>
            <a:xfrm>
              <a:off x="2944204" y="1189775"/>
              <a:ext cx="3305700" cy="669000"/>
            </a:xfrm>
            <a:prstGeom prst="chevron">
              <a:avLst>
                <a:gd fmla="val 50000" name="adj"/>
              </a:avLst>
            </a:prstGeom>
            <a:solidFill>
              <a:srgbClr val="B02B2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Training</a:t>
              </a:r>
              <a:endParaRPr>
                <a:solidFill>
                  <a:srgbClr val="FFFFFF"/>
                </a:solidFill>
                <a:latin typeface="Roboto"/>
                <a:ea typeface="Roboto"/>
                <a:cs typeface="Roboto"/>
                <a:sym typeface="Roboto"/>
              </a:endParaRPr>
            </a:p>
          </p:txBody>
        </p:sp>
        <p:sp>
          <p:nvSpPr>
            <p:cNvPr id="109" name="Google Shape;109;p19"/>
            <p:cNvSpPr txBox="1"/>
            <p:nvPr/>
          </p:nvSpPr>
          <p:spPr>
            <a:xfrm>
              <a:off x="2866501" y="2057126"/>
              <a:ext cx="2848500" cy="26157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SzPts val="1200"/>
                <a:buFont typeface="Roboto"/>
                <a:buChar char="●"/>
              </a:pPr>
              <a:r>
                <a:rPr lang="en" sz="1200">
                  <a:latin typeface="Roboto"/>
                  <a:ea typeface="Roboto"/>
                  <a:cs typeface="Roboto"/>
                  <a:sym typeface="Roboto"/>
                </a:rPr>
                <a:t>Implemented a time-series autoencoder. </a:t>
              </a:r>
              <a:endParaRPr sz="1200">
                <a:latin typeface="Roboto"/>
                <a:ea typeface="Roboto"/>
                <a:cs typeface="Roboto"/>
                <a:sym typeface="Roboto"/>
              </a:endParaRPr>
            </a:p>
            <a:p>
              <a:pPr indent="-304800" lvl="0" marL="457200" rtl="0" algn="l">
                <a:lnSpc>
                  <a:spcPct val="115000"/>
                </a:lnSpc>
                <a:spcBef>
                  <a:spcPts val="0"/>
                </a:spcBef>
                <a:spcAft>
                  <a:spcPts val="0"/>
                </a:spcAft>
                <a:buSzPts val="1200"/>
                <a:buFont typeface="Roboto"/>
                <a:buChar char="●"/>
              </a:pPr>
              <a:r>
                <a:rPr lang="en" sz="1200">
                  <a:latin typeface="Roboto"/>
                  <a:ea typeface="Roboto"/>
                  <a:cs typeface="Roboto"/>
                  <a:sym typeface="Roboto"/>
                </a:rPr>
                <a:t>Parallel processing with up to 8 CPU cores. </a:t>
              </a:r>
              <a:endParaRPr sz="1200">
                <a:latin typeface="Roboto"/>
                <a:ea typeface="Roboto"/>
                <a:cs typeface="Roboto"/>
                <a:sym typeface="Roboto"/>
              </a:endParaRPr>
            </a:p>
            <a:p>
              <a:pPr indent="-304800" lvl="0" marL="457200" rtl="0" algn="l">
                <a:lnSpc>
                  <a:spcPct val="115000"/>
                </a:lnSpc>
                <a:spcBef>
                  <a:spcPts val="0"/>
                </a:spcBef>
                <a:spcAft>
                  <a:spcPts val="0"/>
                </a:spcAft>
                <a:buSzPts val="1200"/>
                <a:buFont typeface="Roboto"/>
                <a:buChar char="●"/>
              </a:pPr>
              <a:r>
                <a:rPr lang="en" sz="1200">
                  <a:latin typeface="Roboto"/>
                  <a:ea typeface="Roboto"/>
                  <a:cs typeface="Roboto"/>
                  <a:sym typeface="Roboto"/>
                </a:rPr>
                <a:t>Split dataset among worker processes, each training independently.</a:t>
              </a:r>
              <a:endParaRPr sz="1200">
                <a:latin typeface="Roboto"/>
                <a:ea typeface="Roboto"/>
                <a:cs typeface="Roboto"/>
                <a:sym typeface="Roboto"/>
              </a:endParaRPr>
            </a:p>
            <a:p>
              <a:pPr indent="-304800" lvl="0" marL="457200" rtl="0" algn="l">
                <a:lnSpc>
                  <a:spcPct val="115000"/>
                </a:lnSpc>
                <a:spcBef>
                  <a:spcPts val="0"/>
                </a:spcBef>
                <a:spcAft>
                  <a:spcPts val="0"/>
                </a:spcAft>
                <a:buSzPts val="1200"/>
                <a:buFont typeface="Roboto"/>
                <a:buChar char="●"/>
              </a:pPr>
              <a:r>
                <a:rPr lang="en" sz="1200">
                  <a:latin typeface="Roboto"/>
                  <a:ea typeface="Roboto"/>
                  <a:cs typeface="Roboto"/>
                  <a:sym typeface="Roboto"/>
                </a:rPr>
                <a:t>Gradient synchronization to ensure consistent model updates.</a:t>
              </a:r>
              <a:endParaRPr sz="1200">
                <a:latin typeface="Roboto"/>
                <a:ea typeface="Roboto"/>
                <a:cs typeface="Roboto"/>
                <a:sym typeface="Roboto"/>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0"/>
          <p:cNvSpPr txBox="1"/>
          <p:nvPr>
            <p:ph type="title"/>
          </p:nvPr>
        </p:nvSpPr>
        <p:spPr>
          <a:xfrm>
            <a:off x="265500" y="1382350"/>
            <a:ext cx="4045200" cy="1333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Solution Pipeline Overview:</a:t>
            </a:r>
            <a:endParaRPr/>
          </a:p>
        </p:txBody>
      </p:sp>
      <p:sp>
        <p:nvSpPr>
          <p:cNvPr id="115" name="Google Shape;115;p20"/>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Components of the project</a:t>
            </a:r>
            <a:endParaRPr/>
          </a:p>
        </p:txBody>
      </p:sp>
      <p:sp>
        <p:nvSpPr>
          <p:cNvPr id="116" name="Google Shape;116;p20"/>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p>
            <a:pPr indent="-349250" lvl="0" marL="457200" rtl="0" algn="l">
              <a:spcBef>
                <a:spcPts val="0"/>
              </a:spcBef>
              <a:spcAft>
                <a:spcPts val="0"/>
              </a:spcAft>
              <a:buSzPts val="1900"/>
              <a:buChar char="●"/>
            </a:pPr>
            <a:r>
              <a:rPr b="1" lang="en" sz="1900"/>
              <a:t>EDA and Preprocessing </a:t>
            </a:r>
            <a:endParaRPr b="1" sz="1900"/>
          </a:p>
          <a:p>
            <a:pPr indent="-349250" lvl="0" marL="457200" rtl="0" algn="l">
              <a:spcBef>
                <a:spcPts val="1600"/>
              </a:spcBef>
              <a:spcAft>
                <a:spcPts val="0"/>
              </a:spcAft>
              <a:buSzPts val="1900"/>
              <a:buChar char="●"/>
            </a:pPr>
            <a:r>
              <a:rPr b="1" lang="en" sz="1900"/>
              <a:t>Training</a:t>
            </a:r>
            <a:endParaRPr b="1" sz="1900"/>
          </a:p>
          <a:p>
            <a:pPr indent="-349250" lvl="0" marL="457200" rtl="0" algn="l">
              <a:spcBef>
                <a:spcPts val="1600"/>
              </a:spcBef>
              <a:spcAft>
                <a:spcPts val="0"/>
              </a:spcAft>
              <a:buSzPts val="1900"/>
              <a:buChar char="●"/>
            </a:pPr>
            <a:r>
              <a:rPr b="1" lang="en" sz="1900"/>
              <a:t>Evaluation</a:t>
            </a:r>
            <a:endParaRPr b="1" sz="1900"/>
          </a:p>
          <a:p>
            <a:pPr indent="-349250" lvl="0" marL="457200" rtl="0" algn="l">
              <a:spcBef>
                <a:spcPts val="1600"/>
              </a:spcBef>
              <a:spcAft>
                <a:spcPts val="1600"/>
              </a:spcAft>
              <a:buSzPts val="1900"/>
              <a:buChar char="●"/>
            </a:pPr>
            <a:r>
              <a:rPr b="1" lang="en" sz="1900"/>
              <a:t>Memory Testing</a:t>
            </a:r>
            <a:endParaRPr b="1" sz="1900"/>
          </a:p>
        </p:txBody>
      </p:sp>
      <p:pic>
        <p:nvPicPr>
          <p:cNvPr id="117" name="Google Shape;117;p20"/>
          <p:cNvPicPr preferRelativeResize="0"/>
          <p:nvPr/>
        </p:nvPicPr>
        <p:blipFill>
          <a:blip r:embed="rId3">
            <a:alphaModFix/>
          </a:blip>
          <a:stretch>
            <a:fillRect/>
          </a:stretch>
        </p:blipFill>
        <p:spPr>
          <a:xfrm>
            <a:off x="6515824" y="-1"/>
            <a:ext cx="2628175" cy="6490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pic>
        <p:nvPicPr>
          <p:cNvPr id="122" name="Google Shape;122;p21"/>
          <p:cNvPicPr preferRelativeResize="0"/>
          <p:nvPr/>
        </p:nvPicPr>
        <p:blipFill>
          <a:blip r:embed="rId3">
            <a:alphaModFix/>
          </a:blip>
          <a:stretch>
            <a:fillRect/>
          </a:stretch>
        </p:blipFill>
        <p:spPr>
          <a:xfrm>
            <a:off x="6515824" y="-1"/>
            <a:ext cx="2628175" cy="649075"/>
          </a:xfrm>
          <a:prstGeom prst="rect">
            <a:avLst/>
          </a:prstGeom>
          <a:noFill/>
          <a:ln>
            <a:noFill/>
          </a:ln>
        </p:spPr>
      </p:pic>
      <p:sp>
        <p:nvSpPr>
          <p:cNvPr id="123" name="Google Shape;123;p21"/>
          <p:cNvSpPr txBox="1"/>
          <p:nvPr>
            <p:ph type="title"/>
          </p:nvPr>
        </p:nvSpPr>
        <p:spPr>
          <a:xfrm>
            <a:off x="232500" y="592700"/>
            <a:ext cx="8679000" cy="414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600">
                <a:solidFill>
                  <a:schemeClr val="dk1"/>
                </a:solidFill>
              </a:rPr>
              <a:t>Properties of the Solution</a:t>
            </a:r>
            <a:r>
              <a:rPr lang="en" sz="4600">
                <a:solidFill>
                  <a:schemeClr val="dk1"/>
                </a:solidFill>
              </a:rPr>
              <a:t>:</a:t>
            </a:r>
            <a:endParaRPr sz="4600">
              <a:solidFill>
                <a:schemeClr val="dk1"/>
              </a:solidFill>
            </a:endParaRPr>
          </a:p>
          <a:p>
            <a:pPr indent="0" lvl="0" marL="0" rtl="0" algn="l">
              <a:spcBef>
                <a:spcPts val="0"/>
              </a:spcBef>
              <a:spcAft>
                <a:spcPts val="0"/>
              </a:spcAft>
              <a:buNone/>
            </a:pPr>
            <a:r>
              <a:t/>
            </a:r>
            <a:endParaRPr sz="1800">
              <a:solidFill>
                <a:schemeClr val="dk1"/>
              </a:solidFill>
            </a:endParaRPr>
          </a:p>
          <a:p>
            <a:pPr indent="-349250" lvl="0" marL="457200" rtl="0" algn="l">
              <a:spcBef>
                <a:spcPts val="0"/>
              </a:spcBef>
              <a:spcAft>
                <a:spcPts val="0"/>
              </a:spcAft>
              <a:buClr>
                <a:schemeClr val="dk1"/>
              </a:buClr>
              <a:buSzPts val="1900"/>
              <a:buChar char="●"/>
            </a:pPr>
            <a:r>
              <a:rPr b="1" lang="en" sz="1900">
                <a:solidFill>
                  <a:schemeClr val="dk1"/>
                </a:solidFill>
              </a:rPr>
              <a:t>Correctness: </a:t>
            </a:r>
            <a:endParaRPr b="1" sz="1900">
              <a:solidFill>
                <a:schemeClr val="dk1"/>
              </a:solidFill>
            </a:endParaRPr>
          </a:p>
          <a:p>
            <a:pPr indent="0" lvl="0" marL="457200" rtl="0" algn="l">
              <a:spcBef>
                <a:spcPts val="0"/>
              </a:spcBef>
              <a:spcAft>
                <a:spcPts val="0"/>
              </a:spcAft>
              <a:buNone/>
            </a:pPr>
            <a:r>
              <a:rPr b="1" lang="en" sz="1900">
                <a:solidFill>
                  <a:srgbClr val="FFFBF0"/>
                </a:solidFill>
              </a:rPr>
              <a:t>Maintained model accuracy across sequential and parallel approaches.</a:t>
            </a:r>
            <a:endParaRPr b="1" sz="1900">
              <a:solidFill>
                <a:srgbClr val="FFFBF0"/>
              </a:solidFill>
            </a:endParaRPr>
          </a:p>
          <a:p>
            <a:pPr indent="0" lvl="0" marL="457200" rtl="0" algn="l">
              <a:spcBef>
                <a:spcPts val="0"/>
              </a:spcBef>
              <a:spcAft>
                <a:spcPts val="0"/>
              </a:spcAft>
              <a:buNone/>
            </a:pPr>
            <a:r>
              <a:t/>
            </a:r>
            <a:endParaRPr b="1" sz="1900">
              <a:solidFill>
                <a:schemeClr val="dk1"/>
              </a:solidFill>
            </a:endParaRPr>
          </a:p>
          <a:p>
            <a:pPr indent="-349250" lvl="0" marL="457200" rtl="0" algn="l">
              <a:spcBef>
                <a:spcPts val="0"/>
              </a:spcBef>
              <a:spcAft>
                <a:spcPts val="0"/>
              </a:spcAft>
              <a:buClr>
                <a:schemeClr val="dk1"/>
              </a:buClr>
              <a:buSzPts val="1900"/>
              <a:buChar char="●"/>
            </a:pPr>
            <a:r>
              <a:rPr b="1" lang="en" sz="1900">
                <a:solidFill>
                  <a:schemeClr val="dk1"/>
                </a:solidFill>
              </a:rPr>
              <a:t>Progress: </a:t>
            </a:r>
            <a:endParaRPr b="1" sz="1900">
              <a:solidFill>
                <a:schemeClr val="dk1"/>
              </a:solidFill>
            </a:endParaRPr>
          </a:p>
          <a:p>
            <a:pPr indent="0" lvl="0" marL="457200" rtl="0" algn="l">
              <a:spcBef>
                <a:spcPts val="0"/>
              </a:spcBef>
              <a:spcAft>
                <a:spcPts val="0"/>
              </a:spcAft>
              <a:buNone/>
            </a:pPr>
            <a:r>
              <a:rPr b="1" lang="en" sz="1900">
                <a:solidFill>
                  <a:srgbClr val="FFFBF0"/>
                </a:solidFill>
              </a:rPr>
              <a:t>Demonstrated significant reductions in training and evaluation times.</a:t>
            </a:r>
            <a:endParaRPr b="1" sz="1900">
              <a:solidFill>
                <a:srgbClr val="FFFBF0"/>
              </a:solidFill>
            </a:endParaRPr>
          </a:p>
          <a:p>
            <a:pPr indent="0" lvl="0" marL="457200" rtl="0" algn="l">
              <a:spcBef>
                <a:spcPts val="0"/>
              </a:spcBef>
              <a:spcAft>
                <a:spcPts val="0"/>
              </a:spcAft>
              <a:buNone/>
            </a:pPr>
            <a:r>
              <a:t/>
            </a:r>
            <a:endParaRPr b="1" sz="1900">
              <a:solidFill>
                <a:schemeClr val="dk1"/>
              </a:solidFill>
            </a:endParaRPr>
          </a:p>
          <a:p>
            <a:pPr indent="-349250" lvl="0" marL="457200" rtl="0" algn="l">
              <a:spcBef>
                <a:spcPts val="0"/>
              </a:spcBef>
              <a:spcAft>
                <a:spcPts val="0"/>
              </a:spcAft>
              <a:buClr>
                <a:schemeClr val="dk1"/>
              </a:buClr>
              <a:buSzPts val="1900"/>
              <a:buChar char="●"/>
            </a:pPr>
            <a:r>
              <a:rPr b="1" lang="en" sz="1900">
                <a:solidFill>
                  <a:schemeClr val="dk1"/>
                </a:solidFill>
              </a:rPr>
              <a:t>Efficiency: </a:t>
            </a:r>
            <a:endParaRPr b="1" sz="1900">
              <a:solidFill>
                <a:schemeClr val="dk1"/>
              </a:solidFill>
            </a:endParaRPr>
          </a:p>
          <a:p>
            <a:pPr indent="0" lvl="0" marL="457200" rtl="0" algn="l">
              <a:spcBef>
                <a:spcPts val="0"/>
              </a:spcBef>
              <a:spcAft>
                <a:spcPts val="0"/>
              </a:spcAft>
              <a:buNone/>
            </a:pPr>
            <a:r>
              <a:rPr b="1" lang="en" sz="1900">
                <a:solidFill>
                  <a:srgbClr val="FFFBF0"/>
                </a:solidFill>
              </a:rPr>
              <a:t>Leveraged up to 8 CPU cores for parallel execution, achieving speedup and throughput gains.</a:t>
            </a:r>
            <a:endParaRPr sz="1500">
              <a:solidFill>
                <a:schemeClr val="dk1"/>
              </a:solidFill>
            </a:endParaRPr>
          </a:p>
          <a:p>
            <a:pPr indent="0" lvl="0" marL="457200" rtl="0" algn="l">
              <a:spcBef>
                <a:spcPts val="0"/>
              </a:spcBef>
              <a:spcAft>
                <a:spcPts val="0"/>
              </a:spcAft>
              <a:buNone/>
            </a:pPr>
            <a:r>
              <a:t/>
            </a:r>
            <a:endParaRPr sz="1900">
              <a:solidFill>
                <a:schemeClr val="dk1"/>
              </a:solidFill>
            </a:endParaRPr>
          </a:p>
          <a:p>
            <a:pPr indent="0" lvl="0" marL="457200" rtl="0" algn="l">
              <a:spcBef>
                <a:spcPts val="0"/>
              </a:spcBef>
              <a:spcAft>
                <a:spcPts val="0"/>
              </a:spcAft>
              <a:buNone/>
            </a:pPr>
            <a:r>
              <a:t/>
            </a:r>
            <a:endParaRPr sz="19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2"/>
          <p:cNvSpPr txBox="1"/>
          <p:nvPr>
            <p:ph type="title"/>
          </p:nvPr>
        </p:nvSpPr>
        <p:spPr>
          <a:xfrm>
            <a:off x="0" y="457400"/>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600"/>
              <a:t>Exploratory Data Analysis and Preprocessing</a:t>
            </a:r>
            <a:endParaRPr sz="2600"/>
          </a:p>
        </p:txBody>
      </p:sp>
      <p:pic>
        <p:nvPicPr>
          <p:cNvPr id="129" name="Google Shape;129;p22"/>
          <p:cNvPicPr preferRelativeResize="0"/>
          <p:nvPr/>
        </p:nvPicPr>
        <p:blipFill>
          <a:blip r:embed="rId3">
            <a:alphaModFix/>
          </a:blip>
          <a:stretch>
            <a:fillRect/>
          </a:stretch>
        </p:blipFill>
        <p:spPr>
          <a:xfrm>
            <a:off x="6515824" y="-1"/>
            <a:ext cx="2628175" cy="649075"/>
          </a:xfrm>
          <a:prstGeom prst="rect">
            <a:avLst/>
          </a:prstGeom>
          <a:noFill/>
          <a:ln>
            <a:noFill/>
          </a:ln>
        </p:spPr>
      </p:pic>
      <p:pic>
        <p:nvPicPr>
          <p:cNvPr id="130" name="Google Shape;130;p22"/>
          <p:cNvPicPr preferRelativeResize="0"/>
          <p:nvPr/>
        </p:nvPicPr>
        <p:blipFill>
          <a:blip r:embed="rId4">
            <a:alphaModFix/>
          </a:blip>
          <a:stretch>
            <a:fillRect/>
          </a:stretch>
        </p:blipFill>
        <p:spPr>
          <a:xfrm>
            <a:off x="3623275" y="1442650"/>
            <a:ext cx="5520726" cy="2980493"/>
          </a:xfrm>
          <a:prstGeom prst="rect">
            <a:avLst/>
          </a:prstGeom>
          <a:noFill/>
          <a:ln>
            <a:noFill/>
          </a:ln>
        </p:spPr>
      </p:pic>
      <p:sp>
        <p:nvSpPr>
          <p:cNvPr id="131" name="Google Shape;131;p22"/>
          <p:cNvSpPr txBox="1"/>
          <p:nvPr/>
        </p:nvSpPr>
        <p:spPr>
          <a:xfrm>
            <a:off x="64425" y="1306325"/>
            <a:ext cx="3420900" cy="36192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lang="en" sz="1800">
                <a:solidFill>
                  <a:schemeClr val="dk1"/>
                </a:solidFill>
                <a:latin typeface="Old Standard TT"/>
                <a:ea typeface="Old Standard TT"/>
                <a:cs typeface="Old Standard TT"/>
                <a:sym typeface="Old Standard TT"/>
              </a:rPr>
              <a:t>Key steps:</a:t>
            </a:r>
            <a:endParaRPr sz="1800">
              <a:solidFill>
                <a:schemeClr val="dk1"/>
              </a:solidFill>
              <a:latin typeface="Old Standard TT"/>
              <a:ea typeface="Old Standard TT"/>
              <a:cs typeface="Old Standard TT"/>
              <a:sym typeface="Old Standard TT"/>
            </a:endParaRPr>
          </a:p>
          <a:p>
            <a:pPr indent="-342900" lvl="0" marL="457200" rtl="0" algn="l">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Dataset Integration </a:t>
            </a:r>
            <a:endParaRPr sz="1800">
              <a:solidFill>
                <a:schemeClr val="dk1"/>
              </a:solidFill>
              <a:latin typeface="Old Standard TT"/>
              <a:ea typeface="Old Standard TT"/>
              <a:cs typeface="Old Standard TT"/>
              <a:sym typeface="Old Standard TT"/>
            </a:endParaRPr>
          </a:p>
          <a:p>
            <a:pPr indent="0" lvl="0" marL="457200" rtl="0" algn="l">
              <a:spcBef>
                <a:spcPts val="0"/>
              </a:spcBef>
              <a:spcAft>
                <a:spcPts val="0"/>
              </a:spcAft>
              <a:buNone/>
            </a:pPr>
            <a:r>
              <a:t/>
            </a:r>
            <a:endParaRPr sz="1800">
              <a:solidFill>
                <a:schemeClr val="dk1"/>
              </a:solidFill>
              <a:latin typeface="Old Standard TT"/>
              <a:ea typeface="Old Standard TT"/>
              <a:cs typeface="Old Standard TT"/>
              <a:sym typeface="Old Standard TT"/>
            </a:endParaRPr>
          </a:p>
          <a:p>
            <a:pPr indent="-342900" lvl="0" marL="457200" rtl="0" algn="l">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Feature Selection</a:t>
            </a:r>
            <a:endParaRPr sz="1800">
              <a:solidFill>
                <a:schemeClr val="dk1"/>
              </a:solidFill>
              <a:latin typeface="Old Standard TT"/>
              <a:ea typeface="Old Standard TT"/>
              <a:cs typeface="Old Standard TT"/>
              <a:sym typeface="Old Standard TT"/>
            </a:endParaRPr>
          </a:p>
          <a:p>
            <a:pPr indent="0" lvl="0" marL="457200" rtl="0" algn="l">
              <a:spcBef>
                <a:spcPts val="0"/>
              </a:spcBef>
              <a:spcAft>
                <a:spcPts val="0"/>
              </a:spcAft>
              <a:buNone/>
            </a:pPr>
            <a:r>
              <a:t/>
            </a:r>
            <a:endParaRPr sz="1800">
              <a:solidFill>
                <a:schemeClr val="dk1"/>
              </a:solidFill>
              <a:latin typeface="Old Standard TT"/>
              <a:ea typeface="Old Standard TT"/>
              <a:cs typeface="Old Standard TT"/>
              <a:sym typeface="Old Standard TT"/>
            </a:endParaRPr>
          </a:p>
          <a:p>
            <a:pPr indent="-342900" lvl="0" marL="457200" rtl="0" algn="l">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Find optimal features (PCA)</a:t>
            </a:r>
            <a:endParaRPr sz="1800">
              <a:solidFill>
                <a:schemeClr val="dk1"/>
              </a:solidFill>
              <a:latin typeface="Old Standard TT"/>
              <a:ea typeface="Old Standard TT"/>
              <a:cs typeface="Old Standard TT"/>
              <a:sym typeface="Old Standard TT"/>
            </a:endParaRPr>
          </a:p>
          <a:p>
            <a:pPr indent="0" lvl="0" marL="457200" rtl="0" algn="l">
              <a:spcBef>
                <a:spcPts val="0"/>
              </a:spcBef>
              <a:spcAft>
                <a:spcPts val="0"/>
              </a:spcAft>
              <a:buNone/>
            </a:pPr>
            <a:r>
              <a:t/>
            </a:r>
            <a:endParaRPr sz="1800">
              <a:solidFill>
                <a:schemeClr val="dk1"/>
              </a:solidFill>
              <a:latin typeface="Old Standard TT"/>
              <a:ea typeface="Old Standard TT"/>
              <a:cs typeface="Old Standard TT"/>
              <a:sym typeface="Old Standard TT"/>
            </a:endParaRPr>
          </a:p>
          <a:p>
            <a:pPr indent="-342900" lvl="0" marL="457200" rtl="0" algn="l">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Normalization</a:t>
            </a:r>
            <a:endParaRPr sz="1800">
              <a:solidFill>
                <a:schemeClr val="dk1"/>
              </a:solidFill>
              <a:latin typeface="Old Standard TT"/>
              <a:ea typeface="Old Standard TT"/>
              <a:cs typeface="Old Standard TT"/>
              <a:sym typeface="Old Standard TT"/>
            </a:endParaRPr>
          </a:p>
          <a:p>
            <a:pPr indent="0" lvl="0" marL="457200" rtl="0" algn="l">
              <a:spcBef>
                <a:spcPts val="0"/>
              </a:spcBef>
              <a:spcAft>
                <a:spcPts val="0"/>
              </a:spcAft>
              <a:buNone/>
            </a:pPr>
            <a:r>
              <a:t/>
            </a:r>
            <a:endParaRPr sz="1800">
              <a:solidFill>
                <a:schemeClr val="dk1"/>
              </a:solidFill>
              <a:latin typeface="Old Standard TT"/>
              <a:ea typeface="Old Standard TT"/>
              <a:cs typeface="Old Standard TT"/>
              <a:sym typeface="Old Standard TT"/>
            </a:endParaRPr>
          </a:p>
          <a:p>
            <a:pPr indent="-342900" lvl="0" marL="457200" rtl="0" algn="l">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Foundation for Modeling</a:t>
            </a:r>
            <a:endParaRPr sz="1800">
              <a:solidFill>
                <a:schemeClr val="dk1"/>
              </a:solidFill>
              <a:latin typeface="Old Standard TT"/>
              <a:ea typeface="Old Standard TT"/>
              <a:cs typeface="Old Standard TT"/>
              <a:sym typeface="Old Standard TT"/>
            </a:endParaRPr>
          </a:p>
          <a:p>
            <a:pPr indent="0" lvl="0" marL="457200" rtl="0" algn="l">
              <a:spcBef>
                <a:spcPts val="0"/>
              </a:spcBef>
              <a:spcAft>
                <a:spcPts val="0"/>
              </a:spcAft>
              <a:buNone/>
            </a:pPr>
            <a:r>
              <a:t/>
            </a:r>
            <a:endParaRPr sz="1800">
              <a:solidFill>
                <a:schemeClr val="dk1"/>
              </a:solidFill>
              <a:latin typeface="Old Standard TT"/>
              <a:ea typeface="Old Standard TT"/>
              <a:cs typeface="Old Standard TT"/>
              <a:sym typeface="Old Standard TT"/>
            </a:endParaRPr>
          </a:p>
          <a:p>
            <a:pPr indent="0" lvl="0" marL="457200" rtl="0" algn="l">
              <a:spcBef>
                <a:spcPts val="0"/>
              </a:spcBef>
              <a:spcAft>
                <a:spcPts val="0"/>
              </a:spcAft>
              <a:buNone/>
            </a:pPr>
            <a:r>
              <a:t/>
            </a:r>
            <a:endParaRPr sz="1800">
              <a:solidFill>
                <a:schemeClr val="dk1"/>
              </a:solidFill>
              <a:latin typeface="Old Standard TT"/>
              <a:ea typeface="Old Standard TT"/>
              <a:cs typeface="Old Standard TT"/>
              <a:sym typeface="Old Standard T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3"/>
          <p:cNvSpPr txBox="1"/>
          <p:nvPr>
            <p:ph type="title"/>
          </p:nvPr>
        </p:nvSpPr>
        <p:spPr>
          <a:xfrm>
            <a:off x="6294900" y="2475925"/>
            <a:ext cx="2849100" cy="167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600"/>
              <a:t>Insights from parallel training</a:t>
            </a:r>
            <a:endParaRPr sz="2600"/>
          </a:p>
        </p:txBody>
      </p:sp>
      <p:pic>
        <p:nvPicPr>
          <p:cNvPr id="137" name="Google Shape;137;p23"/>
          <p:cNvPicPr preferRelativeResize="0"/>
          <p:nvPr/>
        </p:nvPicPr>
        <p:blipFill>
          <a:blip r:embed="rId3">
            <a:alphaModFix/>
          </a:blip>
          <a:stretch>
            <a:fillRect/>
          </a:stretch>
        </p:blipFill>
        <p:spPr>
          <a:xfrm>
            <a:off x="6515824" y="-1"/>
            <a:ext cx="2628175" cy="649075"/>
          </a:xfrm>
          <a:prstGeom prst="rect">
            <a:avLst/>
          </a:prstGeom>
          <a:noFill/>
          <a:ln>
            <a:noFill/>
          </a:ln>
        </p:spPr>
      </p:pic>
      <p:pic>
        <p:nvPicPr>
          <p:cNvPr id="138" name="Google Shape;138;p23"/>
          <p:cNvPicPr preferRelativeResize="0"/>
          <p:nvPr/>
        </p:nvPicPr>
        <p:blipFill>
          <a:blip r:embed="rId4">
            <a:alphaModFix/>
          </a:blip>
          <a:stretch>
            <a:fillRect/>
          </a:stretch>
        </p:blipFill>
        <p:spPr>
          <a:xfrm>
            <a:off x="146475" y="215600"/>
            <a:ext cx="5945600" cy="46821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4"/>
          <p:cNvSpPr txBox="1"/>
          <p:nvPr>
            <p:ph type="title"/>
          </p:nvPr>
        </p:nvSpPr>
        <p:spPr>
          <a:xfrm>
            <a:off x="6294900" y="2475925"/>
            <a:ext cx="2849100" cy="167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600"/>
              <a:t>Insights from Parallel Evaluation</a:t>
            </a:r>
            <a:endParaRPr sz="2600"/>
          </a:p>
        </p:txBody>
      </p:sp>
      <p:pic>
        <p:nvPicPr>
          <p:cNvPr id="144" name="Google Shape;144;p24"/>
          <p:cNvPicPr preferRelativeResize="0"/>
          <p:nvPr/>
        </p:nvPicPr>
        <p:blipFill>
          <a:blip r:embed="rId3">
            <a:alphaModFix/>
          </a:blip>
          <a:stretch>
            <a:fillRect/>
          </a:stretch>
        </p:blipFill>
        <p:spPr>
          <a:xfrm>
            <a:off x="6515824" y="-1"/>
            <a:ext cx="2628175" cy="649075"/>
          </a:xfrm>
          <a:prstGeom prst="rect">
            <a:avLst/>
          </a:prstGeom>
          <a:noFill/>
          <a:ln>
            <a:noFill/>
          </a:ln>
        </p:spPr>
      </p:pic>
      <p:pic>
        <p:nvPicPr>
          <p:cNvPr id="145" name="Google Shape;145;p24"/>
          <p:cNvPicPr preferRelativeResize="0"/>
          <p:nvPr/>
        </p:nvPicPr>
        <p:blipFill>
          <a:blip r:embed="rId4">
            <a:alphaModFix/>
          </a:blip>
          <a:stretch>
            <a:fillRect/>
          </a:stretch>
        </p:blipFill>
        <p:spPr>
          <a:xfrm>
            <a:off x="152400" y="152400"/>
            <a:ext cx="5285648" cy="48387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Experimental Results</a:t>
            </a:r>
            <a:endParaRPr/>
          </a:p>
        </p:txBody>
      </p:sp>
      <p:sp>
        <p:nvSpPr>
          <p:cNvPr id="151" name="Google Shape;151;p25"/>
          <p:cNvSpPr txBox="1"/>
          <p:nvPr>
            <p:ph idx="1" type="body"/>
          </p:nvPr>
        </p:nvSpPr>
        <p:spPr>
          <a:xfrm>
            <a:off x="311700" y="1171675"/>
            <a:ext cx="3999900" cy="33972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AutoNum type="arabicPeriod"/>
            </a:pPr>
            <a:r>
              <a:rPr lang="en" sz="1600"/>
              <a:t>Setup: Testing done on an 8-core macOS processor with batch sizes of 32, 64, 128, and 256.</a:t>
            </a:r>
            <a:endParaRPr sz="1600"/>
          </a:p>
          <a:p>
            <a:pPr indent="-330200" lvl="0" marL="457200" rtl="0" algn="l">
              <a:spcBef>
                <a:spcPts val="1600"/>
              </a:spcBef>
              <a:spcAft>
                <a:spcPts val="0"/>
              </a:spcAft>
              <a:buSzPts val="1600"/>
              <a:buAutoNum type="arabicPeriod"/>
            </a:pPr>
            <a:r>
              <a:rPr lang="en" sz="1600"/>
              <a:t>Speedup: Up to 4.54x for training and 8.81x for evaluation.</a:t>
            </a:r>
            <a:endParaRPr sz="1600"/>
          </a:p>
          <a:p>
            <a:pPr indent="-330200" lvl="0" marL="457200" rtl="0" algn="l">
              <a:spcBef>
                <a:spcPts val="1600"/>
              </a:spcBef>
              <a:spcAft>
                <a:spcPts val="0"/>
              </a:spcAft>
              <a:buSzPts val="1600"/>
              <a:buAutoNum type="arabicPeriod"/>
            </a:pPr>
            <a:r>
              <a:rPr lang="en" sz="1600"/>
              <a:t>Throughput: Significant improvements for smaller batch sizes.</a:t>
            </a:r>
            <a:endParaRPr sz="1600"/>
          </a:p>
          <a:p>
            <a:pPr indent="-330200" lvl="0" marL="457200" rtl="0" algn="l">
              <a:spcBef>
                <a:spcPts val="1600"/>
              </a:spcBef>
              <a:spcAft>
                <a:spcPts val="1600"/>
              </a:spcAft>
              <a:buSzPts val="1600"/>
              <a:buAutoNum type="arabicPeriod"/>
            </a:pPr>
            <a:r>
              <a:rPr lang="en" sz="1600"/>
              <a:t>Comparison shown using bar plots and line plots.</a:t>
            </a:r>
            <a:endParaRPr sz="1600"/>
          </a:p>
        </p:txBody>
      </p:sp>
      <p:pic>
        <p:nvPicPr>
          <p:cNvPr id="152" name="Google Shape;152;p25"/>
          <p:cNvPicPr preferRelativeResize="0"/>
          <p:nvPr/>
        </p:nvPicPr>
        <p:blipFill>
          <a:blip r:embed="rId3">
            <a:alphaModFix/>
          </a:blip>
          <a:stretch>
            <a:fillRect/>
          </a:stretch>
        </p:blipFill>
        <p:spPr>
          <a:xfrm>
            <a:off x="6515824" y="-1"/>
            <a:ext cx="2628175" cy="649075"/>
          </a:xfrm>
          <a:prstGeom prst="rect">
            <a:avLst/>
          </a:prstGeom>
          <a:noFill/>
          <a:ln>
            <a:noFill/>
          </a:ln>
        </p:spPr>
      </p:pic>
      <p:pic>
        <p:nvPicPr>
          <p:cNvPr id="153" name="Google Shape;153;p25"/>
          <p:cNvPicPr preferRelativeResize="0"/>
          <p:nvPr/>
        </p:nvPicPr>
        <p:blipFill>
          <a:blip r:embed="rId4">
            <a:alphaModFix/>
          </a:blip>
          <a:stretch>
            <a:fillRect/>
          </a:stretch>
        </p:blipFill>
        <p:spPr>
          <a:xfrm>
            <a:off x="4464000" y="1210625"/>
            <a:ext cx="4527601" cy="271700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600"/>
              <a:t>Comparison between Sequential and Parallel approaches</a:t>
            </a:r>
            <a:endParaRPr sz="2600"/>
          </a:p>
        </p:txBody>
      </p:sp>
      <p:pic>
        <p:nvPicPr>
          <p:cNvPr id="159" name="Google Shape;159;p26"/>
          <p:cNvPicPr preferRelativeResize="0"/>
          <p:nvPr/>
        </p:nvPicPr>
        <p:blipFill>
          <a:blip r:embed="rId3">
            <a:alphaModFix/>
          </a:blip>
          <a:stretch>
            <a:fillRect/>
          </a:stretch>
        </p:blipFill>
        <p:spPr>
          <a:xfrm>
            <a:off x="6515824" y="-1"/>
            <a:ext cx="2628175" cy="649075"/>
          </a:xfrm>
          <a:prstGeom prst="rect">
            <a:avLst/>
          </a:prstGeom>
          <a:noFill/>
          <a:ln>
            <a:noFill/>
          </a:ln>
        </p:spPr>
      </p:pic>
      <p:pic>
        <p:nvPicPr>
          <p:cNvPr id="160" name="Google Shape;160;p26"/>
          <p:cNvPicPr preferRelativeResize="0"/>
          <p:nvPr/>
        </p:nvPicPr>
        <p:blipFill>
          <a:blip r:embed="rId4">
            <a:alphaModFix/>
          </a:blip>
          <a:stretch>
            <a:fillRect/>
          </a:stretch>
        </p:blipFill>
        <p:spPr>
          <a:xfrm>
            <a:off x="311700" y="1148200"/>
            <a:ext cx="3931919" cy="3017522"/>
          </a:xfrm>
          <a:prstGeom prst="rect">
            <a:avLst/>
          </a:prstGeom>
          <a:noFill/>
          <a:ln>
            <a:noFill/>
          </a:ln>
        </p:spPr>
      </p:pic>
      <p:pic>
        <p:nvPicPr>
          <p:cNvPr id="161" name="Google Shape;161;p26"/>
          <p:cNvPicPr preferRelativeResize="0"/>
          <p:nvPr/>
        </p:nvPicPr>
        <p:blipFill>
          <a:blip r:embed="rId5">
            <a:alphaModFix/>
          </a:blip>
          <a:stretch>
            <a:fillRect/>
          </a:stretch>
        </p:blipFill>
        <p:spPr>
          <a:xfrm>
            <a:off x="4572000" y="1148200"/>
            <a:ext cx="3931920" cy="301752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600"/>
              <a:t>Speedup and throughput for different batch sizes</a:t>
            </a:r>
            <a:endParaRPr sz="2600"/>
          </a:p>
        </p:txBody>
      </p:sp>
      <p:pic>
        <p:nvPicPr>
          <p:cNvPr id="167" name="Google Shape;167;p27"/>
          <p:cNvPicPr preferRelativeResize="0"/>
          <p:nvPr/>
        </p:nvPicPr>
        <p:blipFill>
          <a:blip r:embed="rId3">
            <a:alphaModFix/>
          </a:blip>
          <a:stretch>
            <a:fillRect/>
          </a:stretch>
        </p:blipFill>
        <p:spPr>
          <a:xfrm>
            <a:off x="6515824" y="-1"/>
            <a:ext cx="2628175" cy="649075"/>
          </a:xfrm>
          <a:prstGeom prst="rect">
            <a:avLst/>
          </a:prstGeom>
          <a:noFill/>
          <a:ln>
            <a:noFill/>
          </a:ln>
        </p:spPr>
      </p:pic>
      <p:pic>
        <p:nvPicPr>
          <p:cNvPr id="168" name="Google Shape;168;p27"/>
          <p:cNvPicPr preferRelativeResize="0"/>
          <p:nvPr/>
        </p:nvPicPr>
        <p:blipFill>
          <a:blip r:embed="rId4">
            <a:alphaModFix/>
          </a:blip>
          <a:stretch>
            <a:fillRect/>
          </a:stretch>
        </p:blipFill>
        <p:spPr>
          <a:xfrm>
            <a:off x="273475" y="1468925"/>
            <a:ext cx="3931919" cy="3017522"/>
          </a:xfrm>
          <a:prstGeom prst="rect">
            <a:avLst/>
          </a:prstGeom>
          <a:noFill/>
          <a:ln>
            <a:noFill/>
          </a:ln>
        </p:spPr>
      </p:pic>
      <p:pic>
        <p:nvPicPr>
          <p:cNvPr id="169" name="Google Shape;169;p27"/>
          <p:cNvPicPr preferRelativeResize="0"/>
          <p:nvPr/>
        </p:nvPicPr>
        <p:blipFill>
          <a:blip r:embed="rId5">
            <a:alphaModFix/>
          </a:blip>
          <a:stretch>
            <a:fillRect/>
          </a:stretch>
        </p:blipFill>
        <p:spPr>
          <a:xfrm>
            <a:off x="4780409" y="1468925"/>
            <a:ext cx="3931919" cy="301752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Memory Testing</a:t>
            </a:r>
            <a:endParaRPr/>
          </a:p>
        </p:txBody>
      </p:sp>
      <p:sp>
        <p:nvSpPr>
          <p:cNvPr id="175" name="Google Shape;175;p28"/>
          <p:cNvSpPr txBox="1"/>
          <p:nvPr>
            <p:ph idx="1" type="body"/>
          </p:nvPr>
        </p:nvSpPr>
        <p:spPr>
          <a:xfrm>
            <a:off x="311700" y="1171675"/>
            <a:ext cx="39999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Purpose:</a:t>
            </a:r>
            <a:endParaRPr b="1"/>
          </a:p>
          <a:p>
            <a:pPr indent="-311150" lvl="0" marL="457200" rtl="0" algn="l">
              <a:spcBef>
                <a:spcPts val="1600"/>
              </a:spcBef>
              <a:spcAft>
                <a:spcPts val="0"/>
              </a:spcAft>
              <a:buSzPts val="1300"/>
              <a:buChar char="●"/>
            </a:pPr>
            <a:r>
              <a:rPr lang="en" sz="1300"/>
              <a:t>Evaluating memory usage throughout training and evaluation phases.</a:t>
            </a:r>
            <a:endParaRPr sz="1300"/>
          </a:p>
          <a:p>
            <a:pPr indent="-311150" lvl="0" marL="457200" rtl="0" algn="l">
              <a:spcBef>
                <a:spcPts val="0"/>
              </a:spcBef>
              <a:spcAft>
                <a:spcPts val="0"/>
              </a:spcAft>
              <a:buSzPts val="1300"/>
              <a:buChar char="●"/>
            </a:pPr>
            <a:r>
              <a:rPr lang="en" sz="1300"/>
              <a:t>Ensuring that memory is efficiently managed, particularly in parallel execution scenarios.</a:t>
            </a:r>
            <a:endParaRPr sz="1300"/>
          </a:p>
          <a:p>
            <a:pPr indent="0" lvl="0" marL="0" rtl="0" algn="l">
              <a:spcBef>
                <a:spcPts val="1600"/>
              </a:spcBef>
              <a:spcAft>
                <a:spcPts val="0"/>
              </a:spcAft>
              <a:buNone/>
            </a:pPr>
            <a:r>
              <a:t/>
            </a:r>
            <a:endParaRPr sz="1300"/>
          </a:p>
          <a:p>
            <a:pPr indent="0" lvl="0" marL="0" rtl="0" algn="l">
              <a:spcBef>
                <a:spcPts val="1600"/>
              </a:spcBef>
              <a:spcAft>
                <a:spcPts val="0"/>
              </a:spcAft>
              <a:buClr>
                <a:schemeClr val="dk1"/>
              </a:buClr>
              <a:buSzPts val="1100"/>
              <a:buFont typeface="Arial"/>
              <a:buNone/>
            </a:pPr>
            <a:r>
              <a:rPr b="1" lang="en" sz="1300"/>
              <a:t>Perform Safe Cleanup:</a:t>
            </a:r>
            <a:endParaRPr b="1" sz="1300"/>
          </a:p>
          <a:p>
            <a:pPr indent="-311150" lvl="0" marL="457200" rtl="0" algn="l">
              <a:spcBef>
                <a:spcPts val="1600"/>
              </a:spcBef>
              <a:spcAft>
                <a:spcPts val="0"/>
              </a:spcAft>
              <a:buSzPts val="1300"/>
              <a:buChar char="●"/>
            </a:pPr>
            <a:r>
              <a:rPr lang="en" sz="1300"/>
              <a:t>Used garbage collection (gc.collect()) and release memory cache (torch.cuda.empty_cache()).</a:t>
            </a:r>
            <a:endParaRPr sz="1300"/>
          </a:p>
          <a:p>
            <a:pPr indent="0" lvl="0" marL="0" rtl="0" algn="l">
              <a:spcBef>
                <a:spcPts val="1600"/>
              </a:spcBef>
              <a:spcAft>
                <a:spcPts val="0"/>
              </a:spcAft>
              <a:buNone/>
            </a:pPr>
            <a:r>
              <a:t/>
            </a:r>
            <a:endParaRPr sz="1300"/>
          </a:p>
          <a:p>
            <a:pPr indent="0" lvl="0" marL="0" rtl="0" algn="l">
              <a:spcBef>
                <a:spcPts val="1600"/>
              </a:spcBef>
              <a:spcAft>
                <a:spcPts val="1600"/>
              </a:spcAft>
              <a:buNone/>
            </a:pPr>
            <a:r>
              <a:t/>
            </a:r>
            <a:endParaRPr/>
          </a:p>
        </p:txBody>
      </p:sp>
      <p:sp>
        <p:nvSpPr>
          <p:cNvPr id="176" name="Google Shape;176;p28"/>
          <p:cNvSpPr txBox="1"/>
          <p:nvPr>
            <p:ph idx="2" type="body"/>
          </p:nvPr>
        </p:nvSpPr>
        <p:spPr>
          <a:xfrm>
            <a:off x="4832400" y="1171675"/>
            <a:ext cx="39999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We </a:t>
            </a:r>
            <a:r>
              <a:rPr b="1" lang="en"/>
              <a:t>monitored Set Size (RSS), Virtual Memory Size (VMS), and system memory usage at:</a:t>
            </a:r>
            <a:endParaRPr b="1"/>
          </a:p>
          <a:p>
            <a:pPr indent="-317500" lvl="0" marL="457200" rtl="0" algn="l">
              <a:spcBef>
                <a:spcPts val="1600"/>
              </a:spcBef>
              <a:spcAft>
                <a:spcPts val="0"/>
              </a:spcAft>
              <a:buSzPts val="1400"/>
              <a:buChar char="●"/>
            </a:pPr>
            <a:r>
              <a:rPr lang="en"/>
              <a:t>Startup: Initial memory usage before loading data.</a:t>
            </a:r>
            <a:endParaRPr/>
          </a:p>
          <a:p>
            <a:pPr indent="-317500" lvl="0" marL="457200" rtl="0" algn="l">
              <a:spcBef>
                <a:spcPts val="0"/>
              </a:spcBef>
              <a:spcAft>
                <a:spcPts val="0"/>
              </a:spcAft>
              <a:buSzPts val="1400"/>
              <a:buChar char="●"/>
            </a:pPr>
            <a:r>
              <a:rPr lang="en"/>
              <a:t>After Initialization: Memory metrics post dataset loading and model initialization.</a:t>
            </a:r>
            <a:endParaRPr/>
          </a:p>
          <a:p>
            <a:pPr indent="-317500" lvl="0" marL="457200" rtl="0" algn="l">
              <a:spcBef>
                <a:spcPts val="0"/>
              </a:spcBef>
              <a:spcAft>
                <a:spcPts val="0"/>
              </a:spcAft>
              <a:buSzPts val="1400"/>
              <a:buChar char="●"/>
            </a:pPr>
            <a:r>
              <a:rPr lang="en"/>
              <a:t>After Training/Evaluation: Memory impact after computational tasks.</a:t>
            </a:r>
            <a:endParaRPr/>
          </a:p>
          <a:p>
            <a:pPr indent="0" lvl="0" marL="0" rtl="0" algn="l">
              <a:spcBef>
                <a:spcPts val="1600"/>
              </a:spcBef>
              <a:spcAft>
                <a:spcPts val="1600"/>
              </a:spcAft>
              <a:buNone/>
            </a:pPr>
            <a:r>
              <a:t/>
            </a:r>
            <a:endParaRPr/>
          </a:p>
        </p:txBody>
      </p:sp>
      <p:pic>
        <p:nvPicPr>
          <p:cNvPr id="177" name="Google Shape;177;p28"/>
          <p:cNvPicPr preferRelativeResize="0"/>
          <p:nvPr/>
        </p:nvPicPr>
        <p:blipFill>
          <a:blip r:embed="rId3">
            <a:alphaModFix/>
          </a:blip>
          <a:stretch>
            <a:fillRect/>
          </a:stretch>
        </p:blipFill>
        <p:spPr>
          <a:xfrm>
            <a:off x="6515824" y="-1"/>
            <a:ext cx="2628175" cy="6490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600"/>
              <a:t>Insights from memory testing:</a:t>
            </a:r>
            <a:endParaRPr sz="2600"/>
          </a:p>
        </p:txBody>
      </p:sp>
      <p:pic>
        <p:nvPicPr>
          <p:cNvPr id="183" name="Google Shape;183;p29"/>
          <p:cNvPicPr preferRelativeResize="0"/>
          <p:nvPr/>
        </p:nvPicPr>
        <p:blipFill>
          <a:blip r:embed="rId3">
            <a:alphaModFix/>
          </a:blip>
          <a:stretch>
            <a:fillRect/>
          </a:stretch>
        </p:blipFill>
        <p:spPr>
          <a:xfrm>
            <a:off x="6515824" y="-1"/>
            <a:ext cx="2628175" cy="649075"/>
          </a:xfrm>
          <a:prstGeom prst="rect">
            <a:avLst/>
          </a:prstGeom>
          <a:noFill/>
          <a:ln>
            <a:noFill/>
          </a:ln>
        </p:spPr>
      </p:pic>
      <p:pic>
        <p:nvPicPr>
          <p:cNvPr id="184" name="Google Shape;184;p29"/>
          <p:cNvPicPr preferRelativeResize="0"/>
          <p:nvPr/>
        </p:nvPicPr>
        <p:blipFill rotWithShape="1">
          <a:blip r:embed="rId4">
            <a:alphaModFix/>
          </a:blip>
          <a:srcRect b="0" l="0" r="41075" t="2353"/>
          <a:stretch/>
        </p:blipFill>
        <p:spPr>
          <a:xfrm>
            <a:off x="311700" y="984625"/>
            <a:ext cx="1964626" cy="4081850"/>
          </a:xfrm>
          <a:prstGeom prst="rect">
            <a:avLst/>
          </a:prstGeom>
          <a:noFill/>
          <a:ln>
            <a:noFill/>
          </a:ln>
        </p:spPr>
      </p:pic>
      <p:sp>
        <p:nvSpPr>
          <p:cNvPr id="185" name="Google Shape;185;p29"/>
          <p:cNvSpPr txBox="1"/>
          <p:nvPr/>
        </p:nvSpPr>
        <p:spPr>
          <a:xfrm>
            <a:off x="2881725" y="1307675"/>
            <a:ext cx="4940100" cy="31320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We see that memory usage gradually increases as components are initialized (data loading, dataset creation, and model setup), indicating efficient resource allocation for each step.</a:t>
            </a:r>
            <a:endParaRPr sz="1800">
              <a:solidFill>
                <a:schemeClr val="dk1"/>
              </a:solidFill>
              <a:latin typeface="Old Standard TT"/>
              <a:ea typeface="Old Standard TT"/>
              <a:cs typeface="Old Standard TT"/>
              <a:sym typeface="Old Standard TT"/>
            </a:endParaRPr>
          </a:p>
          <a:p>
            <a:pPr indent="-342900" lvl="0" marL="457200" rtl="0" algn="l">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After initialization, the values are plateaued with no significant spikes, ensuring that the setup phase does not overburden the system.</a:t>
            </a:r>
            <a:endParaRPr sz="1800">
              <a:solidFill>
                <a:schemeClr val="dk1"/>
              </a:solidFill>
              <a:latin typeface="Old Standard TT"/>
              <a:ea typeface="Old Standard TT"/>
              <a:cs typeface="Old Standard TT"/>
              <a:sym typeface="Old Standard TT"/>
            </a:endParaRPr>
          </a:p>
          <a:p>
            <a:pPr indent="0" lvl="0" marL="457200" rtl="0" algn="l">
              <a:spcBef>
                <a:spcPts val="0"/>
              </a:spcBef>
              <a:spcAft>
                <a:spcPts val="0"/>
              </a:spcAft>
              <a:buNone/>
            </a:pPr>
            <a:r>
              <a:t/>
            </a:r>
            <a:endParaRPr sz="1800">
              <a:solidFill>
                <a:schemeClr val="dk1"/>
              </a:solidFill>
              <a:latin typeface="Old Standard TT"/>
              <a:ea typeface="Old Standard TT"/>
              <a:cs typeface="Old Standard TT"/>
              <a:sym typeface="Old Standard T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600"/>
              <a:t>Insights from memory testing:</a:t>
            </a:r>
            <a:endParaRPr sz="2600"/>
          </a:p>
        </p:txBody>
      </p:sp>
      <p:pic>
        <p:nvPicPr>
          <p:cNvPr id="191" name="Google Shape;191;p30"/>
          <p:cNvPicPr preferRelativeResize="0"/>
          <p:nvPr/>
        </p:nvPicPr>
        <p:blipFill>
          <a:blip r:embed="rId3">
            <a:alphaModFix/>
          </a:blip>
          <a:stretch>
            <a:fillRect/>
          </a:stretch>
        </p:blipFill>
        <p:spPr>
          <a:xfrm>
            <a:off x="6515824" y="-1"/>
            <a:ext cx="2628175" cy="649075"/>
          </a:xfrm>
          <a:prstGeom prst="rect">
            <a:avLst/>
          </a:prstGeom>
          <a:noFill/>
          <a:ln>
            <a:noFill/>
          </a:ln>
        </p:spPr>
      </p:pic>
      <p:pic>
        <p:nvPicPr>
          <p:cNvPr id="192" name="Google Shape;192;p30"/>
          <p:cNvPicPr preferRelativeResize="0"/>
          <p:nvPr/>
        </p:nvPicPr>
        <p:blipFill>
          <a:blip r:embed="rId4">
            <a:alphaModFix/>
          </a:blip>
          <a:stretch>
            <a:fillRect/>
          </a:stretch>
        </p:blipFill>
        <p:spPr>
          <a:xfrm>
            <a:off x="621551" y="1179300"/>
            <a:ext cx="2539850" cy="3780476"/>
          </a:xfrm>
          <a:prstGeom prst="rect">
            <a:avLst/>
          </a:prstGeom>
          <a:noFill/>
          <a:ln>
            <a:noFill/>
          </a:ln>
        </p:spPr>
      </p:pic>
      <p:sp>
        <p:nvSpPr>
          <p:cNvPr id="193" name="Google Shape;193;p30"/>
          <p:cNvSpPr txBox="1"/>
          <p:nvPr/>
        </p:nvSpPr>
        <p:spPr>
          <a:xfrm>
            <a:off x="3584000" y="1436850"/>
            <a:ext cx="4915800" cy="28977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During parallel training, memory usage remains consistent across workers, showing efficient handling of shared resources.</a:t>
            </a:r>
            <a:endParaRPr sz="1800">
              <a:solidFill>
                <a:schemeClr val="dk1"/>
              </a:solidFill>
              <a:latin typeface="Old Standard TT"/>
              <a:ea typeface="Old Standard TT"/>
              <a:cs typeface="Old Standard TT"/>
              <a:sym typeface="Old Standard TT"/>
            </a:endParaRPr>
          </a:p>
          <a:p>
            <a:pPr indent="-342900" lvl="0" marL="457200" rtl="0" algn="l">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The memory cleanup process effectively resets usage, ensuring no residual memory overhead after training completion.</a:t>
            </a:r>
            <a:endParaRPr sz="1800">
              <a:solidFill>
                <a:schemeClr val="dk1"/>
              </a:solidFill>
              <a:latin typeface="Old Standard TT"/>
              <a:ea typeface="Old Standard TT"/>
              <a:cs typeface="Old Standard TT"/>
              <a:sym typeface="Old Standard TT"/>
            </a:endParaRPr>
          </a:p>
          <a:p>
            <a:pPr indent="0" lvl="0" marL="457200" rtl="0" algn="l">
              <a:spcBef>
                <a:spcPts val="0"/>
              </a:spcBef>
              <a:spcAft>
                <a:spcPts val="0"/>
              </a:spcAft>
              <a:buNone/>
            </a:pPr>
            <a:r>
              <a:t/>
            </a:r>
            <a:endParaRPr sz="1800">
              <a:solidFill>
                <a:schemeClr val="dk1"/>
              </a:solidFill>
              <a:latin typeface="Old Standard TT"/>
              <a:ea typeface="Old Standard TT"/>
              <a:cs typeface="Old Standard TT"/>
              <a:sym typeface="Old Standard T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1"/>
          <p:cNvSpPr txBox="1"/>
          <p:nvPr>
            <p:ph type="title"/>
          </p:nvPr>
        </p:nvSpPr>
        <p:spPr>
          <a:xfrm>
            <a:off x="376275" y="537363"/>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600"/>
              <a:t>Insights from memory testing:</a:t>
            </a:r>
            <a:endParaRPr sz="2600"/>
          </a:p>
        </p:txBody>
      </p:sp>
      <p:pic>
        <p:nvPicPr>
          <p:cNvPr id="199" name="Google Shape;199;p31"/>
          <p:cNvPicPr preferRelativeResize="0"/>
          <p:nvPr/>
        </p:nvPicPr>
        <p:blipFill>
          <a:blip r:embed="rId3">
            <a:alphaModFix/>
          </a:blip>
          <a:stretch>
            <a:fillRect/>
          </a:stretch>
        </p:blipFill>
        <p:spPr>
          <a:xfrm>
            <a:off x="6580399" y="92337"/>
            <a:ext cx="2628175" cy="649075"/>
          </a:xfrm>
          <a:prstGeom prst="rect">
            <a:avLst/>
          </a:prstGeom>
          <a:noFill/>
          <a:ln>
            <a:noFill/>
          </a:ln>
        </p:spPr>
      </p:pic>
      <p:pic>
        <p:nvPicPr>
          <p:cNvPr id="200" name="Google Shape;200;p31"/>
          <p:cNvPicPr preferRelativeResize="0"/>
          <p:nvPr/>
        </p:nvPicPr>
        <p:blipFill>
          <a:blip r:embed="rId4">
            <a:alphaModFix/>
          </a:blip>
          <a:stretch>
            <a:fillRect/>
          </a:stretch>
        </p:blipFill>
        <p:spPr>
          <a:xfrm>
            <a:off x="830450" y="1270688"/>
            <a:ext cx="2265333" cy="3780477"/>
          </a:xfrm>
          <a:prstGeom prst="rect">
            <a:avLst/>
          </a:prstGeom>
          <a:noFill/>
          <a:ln>
            <a:noFill/>
          </a:ln>
        </p:spPr>
      </p:pic>
      <p:sp>
        <p:nvSpPr>
          <p:cNvPr id="201" name="Google Shape;201;p31"/>
          <p:cNvSpPr txBox="1"/>
          <p:nvPr/>
        </p:nvSpPr>
        <p:spPr>
          <a:xfrm>
            <a:off x="3551700" y="1380325"/>
            <a:ext cx="5028900" cy="36084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Memory increases slightly during evaluation, corresponding to the computational demands of multi-threaded processes.</a:t>
            </a:r>
            <a:endParaRPr sz="1800">
              <a:solidFill>
                <a:schemeClr val="dk1"/>
              </a:solidFill>
              <a:latin typeface="Old Standard TT"/>
              <a:ea typeface="Old Standard TT"/>
              <a:cs typeface="Old Standard TT"/>
              <a:sym typeface="Old Standard TT"/>
            </a:endParaRPr>
          </a:p>
          <a:p>
            <a:pPr indent="-342900" lvl="0" marL="457200" rtl="0" algn="l">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Post-cleanup, memory usage returns to its pre-evaluation state, demonstrating the success of safe memory reclamation techniques.</a:t>
            </a:r>
            <a:endParaRPr sz="1800">
              <a:solidFill>
                <a:schemeClr val="dk1"/>
              </a:solidFill>
              <a:latin typeface="Old Standard TT"/>
              <a:ea typeface="Old Standard TT"/>
              <a:cs typeface="Old Standard TT"/>
              <a:sym typeface="Old Standard T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2"/>
          <p:cNvSpPr txBox="1"/>
          <p:nvPr>
            <p:ph type="title"/>
          </p:nvPr>
        </p:nvSpPr>
        <p:spPr>
          <a:xfrm>
            <a:off x="490250" y="526350"/>
            <a:ext cx="8373000" cy="426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500"/>
              <a:t>What did we learn?</a:t>
            </a:r>
            <a:endParaRPr sz="4500"/>
          </a:p>
          <a:p>
            <a:pPr indent="0" lvl="0" marL="0" rtl="0" algn="l">
              <a:spcBef>
                <a:spcPts val="0"/>
              </a:spcBef>
              <a:spcAft>
                <a:spcPts val="0"/>
              </a:spcAft>
              <a:buNone/>
            </a:pPr>
            <a:r>
              <a:t/>
            </a:r>
            <a:endParaRPr sz="4500"/>
          </a:p>
          <a:p>
            <a:pPr indent="0" lvl="0" marL="0" rtl="0" algn="l">
              <a:spcBef>
                <a:spcPts val="0"/>
              </a:spcBef>
              <a:spcAft>
                <a:spcPts val="0"/>
              </a:spcAft>
              <a:buNone/>
            </a:pPr>
            <a:r>
              <a:rPr lang="en" sz="4500"/>
              <a:t>Were we successful?</a:t>
            </a:r>
            <a:endParaRPr sz="4500"/>
          </a:p>
          <a:p>
            <a:pPr indent="0" lvl="0" marL="0" rtl="0" algn="l">
              <a:spcBef>
                <a:spcPts val="0"/>
              </a:spcBef>
              <a:spcAft>
                <a:spcPts val="0"/>
              </a:spcAft>
              <a:buNone/>
            </a:pPr>
            <a:r>
              <a:t/>
            </a:r>
            <a:endParaRPr sz="4500"/>
          </a:p>
          <a:p>
            <a:pPr indent="0" lvl="0" marL="0" rtl="0" algn="l">
              <a:spcBef>
                <a:spcPts val="0"/>
              </a:spcBef>
              <a:spcAft>
                <a:spcPts val="0"/>
              </a:spcAft>
              <a:buNone/>
            </a:pPr>
            <a:r>
              <a:rPr lang="en" sz="4500"/>
              <a:t>Are we satisfied with the results?</a:t>
            </a:r>
            <a:endParaRPr sz="4500"/>
          </a:p>
        </p:txBody>
      </p:sp>
      <p:pic>
        <p:nvPicPr>
          <p:cNvPr id="207" name="Google Shape;207;p32"/>
          <p:cNvPicPr preferRelativeResize="0"/>
          <p:nvPr/>
        </p:nvPicPr>
        <p:blipFill>
          <a:blip r:embed="rId3">
            <a:alphaModFix/>
          </a:blip>
          <a:stretch>
            <a:fillRect/>
          </a:stretch>
        </p:blipFill>
        <p:spPr>
          <a:xfrm>
            <a:off x="6515824" y="-1"/>
            <a:ext cx="2628175" cy="6490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11" name="Shape 211"/>
        <p:cNvGrpSpPr/>
        <p:nvPr/>
      </p:nvGrpSpPr>
      <p:grpSpPr>
        <a:xfrm>
          <a:off x="0" y="0"/>
          <a:ext cx="0" cy="0"/>
          <a:chOff x="0" y="0"/>
          <a:chExt cx="0" cy="0"/>
        </a:xfrm>
      </p:grpSpPr>
      <p:sp>
        <p:nvSpPr>
          <p:cNvPr id="212" name="Google Shape;212;p33"/>
          <p:cNvSpPr txBox="1"/>
          <p:nvPr>
            <p:ph type="title"/>
          </p:nvPr>
        </p:nvSpPr>
        <p:spPr>
          <a:xfrm>
            <a:off x="722575" y="278900"/>
            <a:ext cx="8118600" cy="424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700">
                <a:solidFill>
                  <a:schemeClr val="dk1"/>
                </a:solidFill>
              </a:rPr>
              <a:t>Conclusion</a:t>
            </a:r>
            <a:r>
              <a:rPr lang="en" sz="3700">
                <a:solidFill>
                  <a:schemeClr val="dk1"/>
                </a:solidFill>
              </a:rPr>
              <a:t>:</a:t>
            </a:r>
            <a:endParaRPr sz="3700">
              <a:solidFill>
                <a:schemeClr val="dk1"/>
              </a:solidFill>
            </a:endParaRPr>
          </a:p>
          <a:p>
            <a:pPr indent="0" lvl="0" marL="0" rtl="0" algn="l">
              <a:spcBef>
                <a:spcPts val="0"/>
              </a:spcBef>
              <a:spcAft>
                <a:spcPts val="0"/>
              </a:spcAft>
              <a:buNone/>
            </a:pPr>
            <a:r>
              <a:t/>
            </a:r>
            <a:endParaRPr sz="3700">
              <a:solidFill>
                <a:schemeClr val="dk1"/>
              </a:solidFill>
            </a:endParaRPr>
          </a:p>
          <a:p>
            <a:pPr indent="-381000" lvl="0" marL="457200" rtl="0" algn="l">
              <a:spcBef>
                <a:spcPts val="0"/>
              </a:spcBef>
              <a:spcAft>
                <a:spcPts val="0"/>
              </a:spcAft>
              <a:buClr>
                <a:schemeClr val="dk1"/>
              </a:buClr>
              <a:buSzPts val="2400"/>
              <a:buChar char="●"/>
            </a:pPr>
            <a:r>
              <a:rPr lang="en" sz="2400">
                <a:solidFill>
                  <a:schemeClr val="dk1"/>
                </a:solidFill>
              </a:rPr>
              <a:t>Parallel processing drastically reduces training and evaluation times without compromising accuracy.</a:t>
            </a:r>
            <a:endParaRPr sz="2400">
              <a:solidFill>
                <a:schemeClr val="dk1"/>
              </a:solidFill>
            </a:endParaRPr>
          </a:p>
          <a:p>
            <a:pPr indent="-381000" lvl="0" marL="457200" rtl="0" algn="l">
              <a:spcBef>
                <a:spcPts val="0"/>
              </a:spcBef>
              <a:spcAft>
                <a:spcPts val="0"/>
              </a:spcAft>
              <a:buClr>
                <a:schemeClr val="dk1"/>
              </a:buClr>
              <a:buSzPts val="2400"/>
              <a:buChar char="●"/>
            </a:pPr>
            <a:r>
              <a:rPr lang="en" sz="2400">
                <a:solidFill>
                  <a:schemeClr val="dk1"/>
                </a:solidFill>
              </a:rPr>
              <a:t>Batch size configuration is critical for maximizing throughput.</a:t>
            </a:r>
            <a:endParaRPr sz="2400">
              <a:solidFill>
                <a:schemeClr val="dk1"/>
              </a:solidFill>
            </a:endParaRPr>
          </a:p>
          <a:p>
            <a:pPr indent="-381000" lvl="0" marL="457200" rtl="0" algn="l">
              <a:spcBef>
                <a:spcPts val="0"/>
              </a:spcBef>
              <a:spcAft>
                <a:spcPts val="0"/>
              </a:spcAft>
              <a:buClr>
                <a:schemeClr val="dk1"/>
              </a:buClr>
              <a:buSzPts val="2400"/>
              <a:buChar char="●"/>
            </a:pPr>
            <a:r>
              <a:rPr lang="en" sz="2400">
                <a:solidFill>
                  <a:schemeClr val="dk1"/>
                </a:solidFill>
              </a:rPr>
              <a:t>Lock-free synchronization mechanisms can be explored further to improvise the parallelization.</a:t>
            </a:r>
            <a:endParaRPr sz="2400">
              <a:solidFill>
                <a:schemeClr val="dk1"/>
              </a:solidFill>
            </a:endParaRPr>
          </a:p>
          <a:p>
            <a:pPr indent="0" lvl="0" marL="0" rtl="0" algn="l">
              <a:spcBef>
                <a:spcPts val="0"/>
              </a:spcBef>
              <a:spcAft>
                <a:spcPts val="0"/>
              </a:spcAft>
              <a:buNone/>
            </a:pPr>
            <a:r>
              <a:t/>
            </a:r>
            <a:endParaRPr sz="3700">
              <a:solidFill>
                <a:schemeClr val="dk1"/>
              </a:solidFill>
            </a:endParaRPr>
          </a:p>
          <a:p>
            <a:pPr indent="0" lvl="0" marL="0" rtl="0" algn="l">
              <a:spcBef>
                <a:spcPts val="0"/>
              </a:spcBef>
              <a:spcAft>
                <a:spcPts val="0"/>
              </a:spcAft>
              <a:buNone/>
            </a:pPr>
            <a:r>
              <a:t/>
            </a:r>
            <a:endParaRPr sz="3700">
              <a:solidFill>
                <a:schemeClr val="dk1"/>
              </a:solidFill>
            </a:endParaRPr>
          </a:p>
        </p:txBody>
      </p:sp>
      <p:pic>
        <p:nvPicPr>
          <p:cNvPr id="213" name="Google Shape;213;p33"/>
          <p:cNvPicPr preferRelativeResize="0"/>
          <p:nvPr/>
        </p:nvPicPr>
        <p:blipFill>
          <a:blip r:embed="rId3">
            <a:alphaModFix/>
          </a:blip>
          <a:stretch>
            <a:fillRect/>
          </a:stretch>
        </p:blipFill>
        <p:spPr>
          <a:xfrm>
            <a:off x="6515824" y="-1"/>
            <a:ext cx="2628175" cy="6490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pic>
        <p:nvPicPr>
          <p:cNvPr id="218" name="Google Shape;218;p34"/>
          <p:cNvPicPr preferRelativeResize="0"/>
          <p:nvPr/>
        </p:nvPicPr>
        <p:blipFill>
          <a:blip r:embed="rId3">
            <a:alphaModFix/>
          </a:blip>
          <a:stretch>
            <a:fillRect/>
          </a:stretch>
        </p:blipFill>
        <p:spPr>
          <a:xfrm>
            <a:off x="6515824" y="-1"/>
            <a:ext cx="2628175" cy="649075"/>
          </a:xfrm>
          <a:prstGeom prst="rect">
            <a:avLst/>
          </a:prstGeom>
          <a:noFill/>
          <a:ln>
            <a:noFill/>
          </a:ln>
        </p:spPr>
      </p:pic>
      <p:pic>
        <p:nvPicPr>
          <p:cNvPr descr="Thank you 1080P, 2K, 4K, 5K HD wallpapers free download ..." id="219" name="Google Shape;219;p34"/>
          <p:cNvPicPr preferRelativeResize="0"/>
          <p:nvPr/>
        </p:nvPicPr>
        <p:blipFill>
          <a:blip r:embed="rId4">
            <a:alphaModFix/>
          </a:blip>
          <a:stretch>
            <a:fillRect/>
          </a:stretch>
        </p:blipFill>
        <p:spPr>
          <a:xfrm>
            <a:off x="120100" y="389799"/>
            <a:ext cx="6280988" cy="4189626"/>
          </a:xfrm>
          <a:prstGeom prst="rect">
            <a:avLst/>
          </a:prstGeom>
          <a:noFill/>
          <a:ln>
            <a:noFill/>
          </a:ln>
        </p:spPr>
      </p:pic>
      <p:sp>
        <p:nvSpPr>
          <p:cNvPr id="220" name="Google Shape;220;p34"/>
          <p:cNvSpPr txBox="1"/>
          <p:nvPr/>
        </p:nvSpPr>
        <p:spPr>
          <a:xfrm>
            <a:off x="6465700" y="1922550"/>
            <a:ext cx="2534700" cy="71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1"/>
                </a:solidFill>
                <a:latin typeface="Old Standard TT"/>
                <a:ea typeface="Old Standard TT"/>
                <a:cs typeface="Old Standard TT"/>
                <a:sym typeface="Old Standard TT"/>
              </a:rPr>
              <a:t>Prof. Binoy Ravindran</a:t>
            </a:r>
            <a:endParaRPr sz="1300">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rPr lang="en" sz="1300">
                <a:solidFill>
                  <a:schemeClr val="dk1"/>
                </a:solidFill>
                <a:latin typeface="Old Standard TT"/>
                <a:ea typeface="Old Standard TT"/>
                <a:cs typeface="Old Standard TT"/>
                <a:sym typeface="Old Standard TT"/>
              </a:rPr>
              <a:t>Professor &amp; Bradley Senior Faculty Fellow</a:t>
            </a:r>
            <a:endParaRPr sz="1300">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t/>
            </a:r>
            <a:endParaRPr sz="1300">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rPr lang="en" sz="1300">
                <a:solidFill>
                  <a:schemeClr val="dk1"/>
                </a:solidFill>
                <a:latin typeface="Old Standard TT"/>
                <a:ea typeface="Old Standard TT"/>
                <a:cs typeface="Old Standard TT"/>
                <a:sym typeface="Old Standard TT"/>
              </a:rPr>
              <a:t>Apurv Sanjay Deshpande</a:t>
            </a:r>
            <a:endParaRPr sz="1300">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rPr lang="en" sz="1300">
                <a:solidFill>
                  <a:schemeClr val="dk1"/>
                </a:solidFill>
                <a:latin typeface="Old Standard TT"/>
                <a:ea typeface="Old Standard TT"/>
                <a:cs typeface="Old Standard TT"/>
                <a:sym typeface="Old Standard TT"/>
              </a:rPr>
              <a:t>ECE Student at Virginia Tech</a:t>
            </a:r>
            <a:endParaRPr sz="1300">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t/>
            </a:r>
            <a:endParaRPr sz="1300">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rPr lang="en" sz="1300">
                <a:solidFill>
                  <a:schemeClr val="dk1"/>
                </a:solidFill>
                <a:latin typeface="Old Standard TT"/>
                <a:ea typeface="Old Standard TT"/>
                <a:cs typeface="Old Standard TT"/>
                <a:sym typeface="Old Standard TT"/>
              </a:rPr>
              <a:t>Hari Sumant</a:t>
            </a:r>
            <a:endParaRPr sz="1300">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rPr lang="en" sz="1300">
                <a:solidFill>
                  <a:schemeClr val="dk1"/>
                </a:solidFill>
                <a:latin typeface="Old Standard TT"/>
                <a:ea typeface="Old Standard TT"/>
                <a:cs typeface="Old Standard TT"/>
                <a:sym typeface="Old Standard TT"/>
              </a:rPr>
              <a:t>ECE Student at Virginia Tech</a:t>
            </a:r>
            <a:endParaRPr sz="1300">
              <a:solidFill>
                <a:schemeClr val="dk1"/>
              </a:solidFill>
              <a:latin typeface="Old Standard TT"/>
              <a:ea typeface="Old Standard TT"/>
              <a:cs typeface="Old Standard TT"/>
              <a:sym typeface="Old Standard T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